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4" r:id="rId19"/>
    <p:sldId id="275" r:id="rId20"/>
    <p:sldId id="276" r:id="rId21"/>
    <p:sldId id="278" r:id="rId22"/>
    <p:sldId id="279" r:id="rId23"/>
    <p:sldId id="280" r:id="rId24"/>
    <p:sldId id="281" r:id="rId2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3837"/>
    <p:restoredTop sz="94610"/>
  </p:normalViewPr>
  <p:slideViewPr>
    <p:cSldViewPr snapToGrid="0" snapToObjects="1">
      <p:cViewPr varScale="1">
        <p:scale>
          <a:sx n="293" d="100"/>
          <a:sy n="293" d="100"/>
        </p:scale>
        <p:origin x="224" y="3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27664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Promesse de la soirée : comprendre la différence entre vibe coding et vibe engineering, et repartir avec une méthode concrète pour orchestrer des agents IA à la demande — sans infrastructure toujours allumée. Public mixte : annoncer que chaque section a un niveau « grand public » et un niveau « technique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(60-90 sec max) : tout le monde ici a déjà utilisé l'IA pour quelque chose de simple. Le goulot n'est plus la vitesse d'écriture, c'est l'attention humaine — une personne, un problème à la fois. La promesse de la soirée tient dans la dernière ligne : huit spécialistes qui travaillent votre file d'attente pendant la nuit. CEO : pensez processus, pas outil.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vérifiées : Copilot en preview technique juin 2021 ; ChatGPT 30 nov 2022 ; « vibe coding » nommé par Andrej Karpathy en février 2025 ; « vibe engineering » proposé par Simon Willison le 7 octobre 2025. Message clé : à chaque étape, l'humain monte d'un niveau d'abstraction. Question AI PRO probable : « les agents existaient avant 2024 » → oui en recherche ; 2024 = adoption produit (tool use fiable).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Définition grand public : on décrit, on accepte, on itère — sans lire le code. Citation exacte de Karpathy (février 2025) : « fully give in to the vibes ». Collins Dictionary l'a nommé mot de l'année en novembre 2025. Ton : pas de mépris — le vibe coding est génial pour ce qu'il est. Question CURIEUX probable : « donc je peux créer une app sans coder ? » → oui, un prototype ; la nuance arrive à la slide suivante.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vérifiée : billet « Vibe engineering » de Simon Willison, 7 octobre 2025 — pratiques : planification, tests automatisés, documentation, revue de code avec agents. Phrase clé pour CEO : « l'IA écrit le code, l'humain conçoit le système autour ». C'est exactement ce que la section 02 va détailler.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pivot — la plus citée probablement. La ligne « where the rules live » est le pont vers les skills : des règles dans des fichiers versionnés. Question ENTREPRENEUR probable : « le vibe engineering coûte plus cher ? » → plus cher au démarrage (écrire les règles), moins cher à chaque exécution — voir slide économie des tokens.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Marteler : même modèle sous-jacent, résultat radicalement différent selon le système autour. C'est la thèse de toute la présentation.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vulgarisation centrale pour CEO/entrepreneurs/curieux. L'analogie tient remarquablement bien : procédures écrites (skills), spécialistes sur appel (agents), manuel de l'employé (CLAUDE.md), contrôle qualité (gates). À l'oral : « vous savez déjà gérer ça — vous le faites avec des humains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TECH : un skill = un fichier markdown avec un en-tête déclaratif (nom, outils permis, contexte). Pour CEO : c'est l'expertise d'un employé senior, écrite et réutilisable. Question AI PRO probable : « différence avec un system prompt ? » → un skill est versionné, invocable à la demande, scoping d'outils explicite — il ne consomme rien tant qu'il n'est pas invoqué (slide suivante).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slide de la thèse. À l'oral : un skill dormant, c'est un fichier texte — coût quasi nul tant qu'il n'est pas chargé. Un agent qui tourne en continu accumule du contexte (donc des tokens facturés à chaque tour) et perd en précision. Le modèle on-demand : l'orchestrateur invoque le skill, l'agent naît avec un contexte propre, fait le travail, disparaît. Question CEO probable : « concrètement, l'économie ? » → pas de chiffre universel ; structurellement on passe d'un coût de présence à un coût à la tâche (voir backup coûts). Question AI PRO probable : « et la latence du cold start ? » → négligeable : charger un skill = lire un fichier dans le contexte, pas démarrer un serveur.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workflow visible. Pour les non-tech : c'est une chaîne de production avec des postes spécialisés. L'orchestrateur ne code pas — il route.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session est l'unité de travail — c'est l'incarnation concrète de « agent à la demande » (slide always-on vs on-demand). Quatre propriétés : contexte frais (pas de dérive accumulée), isolation (worktrees git — plusieurs sessions en parallèle sur le même repo sans conflit), jetable (la session meurt avec la tâche : plus rien ne tourne, plus rien ne facture), et sans état par design. Question quasi garantie (TECH/AI PRO) : « comment l'agent se souvient d'une session à l'autre ? » → il ne se souvient PAS, et c'est voulu : la mémoire est dans les fichiers versionnés (CLAUDE.md, skills), pas dans la session. C'est ce qui rend le système reproductible et auditable — n'importe quelle session relancée avec les mêmes fichiers se comporte pareil. Punchline : on tue la session, on garde le skill.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condensée des 3 règles (1 slide au lieu de 3, format 20 min). Règle 1 : critères d'acceptation vérifiables par machine — c'est ce qui rattrape les hallucinations. Règle 2 : conditions d'arrêt conçues, pas espérées ; chaque escalade arrive avec sa trace. Règle 3 : l'humain est repositionné aux points de décision — c'est LA réponse préventive à « l'IA remplace les devs ». Si une question approfondit une règle : backups 40 (devs) et 43 (hallucinations).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 terrain de jeu : un vrai produit, pas un jouet. Le système qui sera démontré audite son propre code et celui d'autres repos.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Moment 1 — « l'équipe s'assemble ». Une seule commande : /implement. L'orchestrateur planifie, explore, implémente, puis FAIT APPEL À TROIS SPÉCIALISTES EN PARALLÈLE — code-reviewer, security-auditor, test-writer — chacun dans son propre contexte. Narrer les invocations à voix haute pendant qu'elles apparaissent à l'écran. DÉBRIEF À L'ORAL : critères d'acceptation définis au départ et vérifiés à la fin ; les trois spécialistes reviennent verts (relecture LGTM, audit CLEAN, tests ≥ 80 % sur le nouveau code) ; PR ouverte, CI verte, ~8 minutes. Punchline : « Je n'ai jamais dit quel spécialiste utiliser — l'orchestrateur a assemblé l'équipe. Ce n'est pas de l'autocomplétion, c'est une équipe. »</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Moment 2 — « l'équipe s'attrape elle-même ». Montrer l'échec volontaire ; annoncer que la faille est pré-injectée (un invité pouvait lire la liste d'invités d'un autre organisateur) — la transparence renforce la crédibilité. À l'écran : le subagent security-auditor (lecture seule, contexte isolé) signale la violation S2 (isolation des locataires) avec preuve fichier:ligne en quelques secondes → la barrière BLOQUE le commit → la boucle de fix interne rétablit le contrôle de propriété manquant → re-audit propre. Punchline : « L'auditeur est un spécialiste à part : outils en lecture seule, son propre contexte. Il ne peut pas modifier votre code, et on ne peut pas le convaincre d'ignorer une faille. Il a attrapé la fuite avant qu'un humain voie le code. Zéro humain. » Si on demande « et si le fix échoue 3 fois ? » → c'est exactement le moment 3.</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Moment 3 — « l'équipe travaille pendant que vous dormez ». Autonomie complète, et c'est RÉEL sur ce dépôt : /work-issues tourne en headless, planifié, la nuit. Montrer le run de la nuit dernière en timelapse, puis la liste des PR sur GitHub. Chaque écart est passé dans la boucle complète AVEC l'équipe de spécialistes → 7 PR ouvertes, 1 escalade marquée « needs-human » avec trace complète après 3 tentatives. Punchline : « Huit écarts, huit heures, sans supervision. Sept corrigés et mis en PR. Un qu'il n'a pas su résoudre — alors il s'est arrêté et a tagué un humain. L'escalade, c'est l'essentiel : un système qui sait s'arrêter est le seul qu'on peut déployer. » (Backup : avoir le timelapse enregistré — impossible de lancer un run de 8 h en direct.)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plan d'action universel. Insister sur l'étape 4 : itérer le skill, pas le prompt — c'est ce qui transforme une astuce en actif.</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de 2 secondes sur cette slide avant le Q&amp;A.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Remercier l’audience et ouvrir le Q&amp;A. Rappeler les deux points à retenir : (1) l’écart entre vibe coding et vibe engineering n’est pas l’intelligence du modèle, c’est l’orchestration ; (2) on commence dès lundi avec un seul fichier CLAUDE.md et un dossier de skills. Inviter l’audience à récupérer les slides et le starter pack Gatherly sur github.com/Bmbsolution/genai-demo (code de la démo, skills, CLAUDE.md : tout est public et réutilisable). Donner les contacts LinkedIn / GitHub pour le suivi. Si le Q&amp;A démarre lentement, amorcer avec une question anticipée (slides 23 à 26 : emplois, coûts, sécurité, hallucinations).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quasi garantie (CEO et curieux). Ton calme, pas défensif. Pivot : montrer la slide « humans are sync points ». Si on insiste sur les chiffres d'emploi : dire honnêtement que le marché évolue et que les données récentes méritent d'être vérifiées à la source plutôt que citées de mémoire.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entrepreneur/CEO. NE PAS donner de chiffre en dollars universel — ça dépend du modèle, du volume et du workflow. Donner la structure : coût à la tâche, plafonné par les retries bornés. Proposer de partager une grille de calcul après la conf.</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TECH/CEO. Pointer le YAML du skill : allowed-tools = Read, Grep, Glob — le contrat technique est vérifiable. Si la question porte sur l'envoi de code à un fournisseur de modèle : sujet légitime, dépend du contrat (rétention, résidence des données) — à valider avec le fournisseur, ne pas improviser de garanties.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AI PRO/TECH. Le point fort : on ne prétend pas que le modèle ne se trompe pas — on conçoit le système pour qu'une erreur ne puisse pas sortir. Parallèle avec les humains : on ne déploie pas le code d'un humain sans tests non plus.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01</a:t>
            </a:r>
            <a:endParaRPr lang="en-US" sz="800" dirty="0"/>
          </a:p>
        </p:txBody>
      </p:sp>
      <p:sp>
        <p:nvSpPr>
          <p:cNvPr id="3" name="Text 1"/>
          <p:cNvSpPr/>
          <p:nvPr/>
        </p:nvSpPr>
        <p:spPr>
          <a:xfrm>
            <a:off x="457200" y="411480"/>
            <a:ext cx="5486400" cy="274320"/>
          </a:xfrm>
          <a:prstGeom prst="rect">
            <a:avLst/>
          </a:prstGeom>
          <a:noFill/>
          <a:ln/>
        </p:spPr>
        <p:txBody>
          <a:bodyPr wrap="square" lIns="0" tIns="0" rIns="0" bIns="0" rtlCol="0" anchor="ctr"/>
          <a:lstStyle/>
          <a:p>
            <a:pPr marL="0" indent="0">
              <a:buNone/>
            </a:pPr>
            <a:r>
              <a:rPr lang="en-US" sz="900" kern="0" spc="200" dirty="0">
                <a:solidFill>
                  <a:srgbClr val="3B82F6"/>
                </a:solidFill>
                <a:latin typeface="Inter" pitchFamily="34" charset="0"/>
                <a:ea typeface="Inter" pitchFamily="34" charset="-122"/>
                <a:cs typeface="Inter" pitchFamily="34" charset="-120"/>
              </a:rPr>
              <a:t>Montréal · 18 juin 2026</a:t>
            </a:r>
            <a:endParaRPr lang="en-US" sz="900" dirty="0"/>
          </a:p>
        </p:txBody>
      </p:sp>
      <p:sp>
        <p:nvSpPr>
          <p:cNvPr id="4" name="Text 2"/>
          <p:cNvSpPr/>
          <p:nvPr/>
        </p:nvSpPr>
        <p:spPr>
          <a:xfrm>
            <a:off x="457200" y="1554480"/>
            <a:ext cx="8229600" cy="1645920"/>
          </a:xfrm>
          <a:prstGeom prst="rect">
            <a:avLst/>
          </a:prstGeom>
          <a:noFill/>
          <a:ln/>
        </p:spPr>
        <p:txBody>
          <a:bodyPr wrap="square" lIns="0" tIns="0" rIns="0" bIns="0" rtlCol="0" anchor="ctr"/>
          <a:lstStyle/>
          <a:p>
            <a:pPr marL="0" indent="0">
              <a:lnSpc>
                <a:spcPct val="100000"/>
              </a:lnSpc>
              <a:buNone/>
            </a:pPr>
            <a:r>
              <a:rPr lang="en-US" sz="5400" b="1" dirty="0">
                <a:solidFill>
                  <a:srgbClr val="F8FAFC"/>
                </a:solidFill>
                <a:latin typeface="Montserrat" pitchFamily="34" charset="0"/>
                <a:ea typeface="Inter" pitchFamily="34" charset="-122"/>
                <a:cs typeface="Inter" pitchFamily="34" charset="-120"/>
              </a:rPr>
              <a:t>Orchestrer
</a:t>
            </a:r>
            <a:r>
              <a:rPr lang="en-US" sz="5400" b="1" dirty="0">
                <a:solidFill>
                  <a:srgbClr val="3B82F6"/>
                </a:solidFill>
                <a:latin typeface="Montserrat" pitchFamily="34" charset="0"/>
                <a:ea typeface="Inter" pitchFamily="34" charset="-122"/>
                <a:cs typeface="Inter" pitchFamily="34" charset="-120"/>
              </a:rPr>
              <a:t>l'intelligence</a:t>
            </a:r>
            <a:endParaRPr lang="en-US" sz="5400" dirty="0"/>
          </a:p>
        </p:txBody>
      </p:sp>
      <p:sp>
        <p:nvSpPr>
          <p:cNvPr id="5" name="Text 3"/>
          <p:cNvSpPr/>
          <p:nvPr/>
        </p:nvSpPr>
        <p:spPr>
          <a:xfrm>
            <a:off x="457200" y="3246120"/>
            <a:ext cx="7772400" cy="365760"/>
          </a:xfrm>
          <a:prstGeom prst="rect">
            <a:avLst/>
          </a:prstGeom>
          <a:noFill/>
          <a:ln/>
        </p:spPr>
        <p:txBody>
          <a:bodyPr wrap="square" lIns="0" tIns="0" rIns="0" bIns="0" rtlCol="0" anchor="ctr"/>
          <a:lstStyle/>
          <a:p>
            <a:pPr marL="0" indent="0">
              <a:buNone/>
            </a:pPr>
            <a:r>
              <a:rPr lang="en-US" sz="1400" dirty="0">
                <a:solidFill>
                  <a:srgbClr val="94A3B8"/>
                </a:solidFill>
                <a:latin typeface="Inter" pitchFamily="34" charset="0"/>
                <a:ea typeface="Inter" pitchFamily="34" charset="-122"/>
                <a:cs typeface="Inter" pitchFamily="34" charset="-120"/>
              </a:rPr>
              <a:t>from vibe coding to vibe engineering — orchestrating on-demand AI agents</a:t>
            </a:r>
            <a:endParaRPr lang="en-US" sz="1400" dirty="0"/>
          </a:p>
        </p:txBody>
      </p:sp>
      <p:sp>
        <p:nvSpPr>
          <p:cNvPr id="6" name="Text 4"/>
          <p:cNvSpPr/>
          <p:nvPr/>
        </p:nvSpPr>
        <p:spPr>
          <a:xfrm>
            <a:off x="457200" y="4640580"/>
            <a:ext cx="8229600" cy="274320"/>
          </a:xfrm>
          <a:prstGeom prst="rect">
            <a:avLst/>
          </a:prstGeom>
          <a:noFill/>
          <a:ln/>
        </p:spPr>
        <p:txBody>
          <a:bodyPr wrap="square" lIns="0" tIns="0" rIns="0" bIns="0" rtlCol="0" anchor="ctr"/>
          <a:lstStyle/>
          <a:p>
            <a:pPr marL="0" indent="0">
              <a:buNone/>
            </a:pPr>
            <a:r>
              <a:rPr lang="en-US" sz="1000" dirty="0">
                <a:solidFill>
                  <a:srgbClr val="64748B"/>
                </a:solidFill>
                <a:latin typeface="Inter" pitchFamily="34" charset="0"/>
                <a:ea typeface="Inter" pitchFamily="34" charset="-122"/>
                <a:cs typeface="Inter" pitchFamily="34" charset="-120"/>
              </a:rPr>
              <a:t>Faïçal Sawadogo · Manegre Inc.     |     Moussa Balla · Cloud Architect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00 · why we're here</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02</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00 · WHY WE'RE HERE</a:t>
            </a:r>
            <a:endParaRPr lang="en-US" sz="1000" dirty="0"/>
          </a:p>
        </p:txBody>
      </p:sp>
      <p:sp>
        <p:nvSpPr>
          <p:cNvPr id="5" name="Text 3"/>
          <p:cNvSpPr/>
          <p:nvPr/>
        </p:nvSpPr>
        <p:spPr>
          <a:xfrm>
            <a:off x="457200" y="1554480"/>
            <a:ext cx="8229600" cy="1463040"/>
          </a:xfrm>
          <a:prstGeom prst="rect">
            <a:avLst/>
          </a:prstGeom>
          <a:noFill/>
          <a:ln/>
        </p:spPr>
        <p:txBody>
          <a:bodyPr wrap="square" lIns="0" tIns="0" rIns="0" bIns="0" rtlCol="0" anchor="ctr"/>
          <a:lstStyle/>
          <a:p>
            <a:pPr marL="0" indent="0">
              <a:lnSpc>
                <a:spcPct val="105000"/>
              </a:lnSpc>
              <a:buNone/>
            </a:pPr>
            <a:r>
              <a:rPr lang="en-US" sz="4400" b="1" dirty="0">
                <a:solidFill>
                  <a:srgbClr val="F8FAFC"/>
                </a:solidFill>
                <a:latin typeface="Montserrat" pitchFamily="34" charset="0"/>
                <a:ea typeface="Inter" pitchFamily="34" charset="-122"/>
                <a:cs typeface="Inter" pitchFamily="34" charset="-120"/>
              </a:rPr>
              <a:t>you've automated
</a:t>
            </a:r>
            <a:r>
              <a:rPr lang="en-US" sz="4400" b="1" dirty="0">
                <a:solidFill>
                  <a:srgbClr val="3B82F6"/>
                </a:solidFill>
                <a:latin typeface="Montserrat" pitchFamily="34" charset="0"/>
                <a:ea typeface="Inter" pitchFamily="34" charset="-122"/>
                <a:cs typeface="Inter" pitchFamily="34" charset="-120"/>
              </a:rPr>
              <a:t>everything easy</a:t>
            </a:r>
            <a:endParaRPr lang="en-US" sz="4400" dirty="0"/>
          </a:p>
        </p:txBody>
      </p:sp>
      <p:sp>
        <p:nvSpPr>
          <p:cNvPr id="6" name="Text 4"/>
          <p:cNvSpPr/>
          <p:nvPr/>
        </p:nvSpPr>
        <p:spPr>
          <a:xfrm>
            <a:off x="457200" y="3154680"/>
            <a:ext cx="8229600" cy="457200"/>
          </a:xfrm>
          <a:prstGeom prst="rect">
            <a:avLst/>
          </a:prstGeom>
          <a:noFill/>
          <a:ln/>
        </p:spPr>
        <p:txBody>
          <a:bodyPr wrap="square" lIns="0" tIns="0" rIns="0" bIns="0" rtlCol="0" anchor="ctr"/>
          <a:lstStyle/>
          <a:p>
            <a:pPr marL="0" indent="0">
              <a:buNone/>
            </a:pPr>
            <a:r>
              <a:rPr lang="en-US" sz="1800" i="1" dirty="0">
                <a:solidFill>
                  <a:srgbClr val="94A3B8"/>
                </a:solidFill>
                <a:latin typeface="Inter" pitchFamily="34" charset="0"/>
                <a:ea typeface="Inter" pitchFamily="34" charset="-122"/>
                <a:cs typeface="Inter" pitchFamily="34" charset="-120"/>
              </a:rPr>
              <a:t>so what's left?</a:t>
            </a:r>
            <a:endParaRPr lang="en-US" sz="1800" dirty="0"/>
          </a:p>
        </p:txBody>
      </p:sp>
      <p:sp>
        <p:nvSpPr>
          <p:cNvPr id="7" name="Text 5"/>
          <p:cNvSpPr/>
          <p:nvPr/>
        </p:nvSpPr>
        <p:spPr>
          <a:xfrm>
            <a:off x="457200" y="3794760"/>
            <a:ext cx="8229600" cy="731520"/>
          </a:xfrm>
          <a:prstGeom prst="rect">
            <a:avLst/>
          </a:prstGeom>
          <a:noFill/>
          <a:ln/>
        </p:spPr>
        <p:txBody>
          <a:bodyPr wrap="square" lIns="0" tIns="0" rIns="0" bIns="0" rtlCol="0" anchor="ctr"/>
          <a:lstStyle/>
          <a:p>
            <a:pPr marL="0" indent="0">
              <a:buNone/>
            </a:pPr>
            <a:r>
              <a:rPr lang="en-US" sz="1400" i="1" dirty="0">
                <a:solidFill>
                  <a:srgbClr val="3B82F6"/>
                </a:solidFill>
                <a:latin typeface="Inter" pitchFamily="34" charset="0"/>
                <a:ea typeface="Inter" pitchFamily="34" charset="-122"/>
                <a:cs typeface="Inter" pitchFamily="34" charset="-120"/>
              </a:rPr>
              <a:t>the bottleneck isn't typing speed anymore — it's that one person holds one problem at a time.</a:t>
            </a:r>
            <a:endParaRPr lang="en-US" sz="1400" dirty="0"/>
          </a:p>
          <a:p>
            <a:pPr marL="0" indent="0">
              <a:buNone/>
            </a:pPr>
            <a:r>
              <a:rPr lang="en-US" sz="1400" i="1" dirty="0">
                <a:solidFill>
                  <a:srgbClr val="3B82F6"/>
                </a:solidFill>
                <a:latin typeface="Inter" pitchFamily="34" charset="0"/>
                <a:ea typeface="Inter" pitchFamily="34" charset="-122"/>
                <a:cs typeface="Inter" pitchFamily="34" charset="-120"/>
              </a:rPr>
              <a:t>what if eight specialists worked your queue overnight?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01 · the evolution</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03</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01 · THE EVOLUTION</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five years, four shifts</a:t>
            </a:r>
            <a:endParaRPr lang="en-US" sz="2800" dirty="0"/>
          </a:p>
        </p:txBody>
      </p:sp>
      <p:sp>
        <p:nvSpPr>
          <p:cNvPr id="6" name="Shape 4"/>
          <p:cNvSpPr/>
          <p:nvPr/>
        </p:nvSpPr>
        <p:spPr>
          <a:xfrm>
            <a:off x="640080" y="1883664"/>
            <a:ext cx="7973568" cy="0"/>
          </a:xfrm>
          <a:prstGeom prst="line">
            <a:avLst/>
          </a:prstGeom>
          <a:noFill/>
          <a:ln w="12700">
            <a:solidFill>
              <a:srgbClr val="64748B"/>
            </a:solidFill>
            <a:prstDash val="solid"/>
          </a:ln>
        </p:spPr>
        <p:txBody>
          <a:bodyPr/>
          <a:lstStyle/>
          <a:p>
            <a:endParaRPr/>
          </a:p>
        </p:txBody>
      </p:sp>
      <p:sp>
        <p:nvSpPr>
          <p:cNvPr id="7" name="Shape 5"/>
          <p:cNvSpPr/>
          <p:nvPr/>
        </p:nvSpPr>
        <p:spPr>
          <a:xfrm>
            <a:off x="1197864" y="1837944"/>
            <a:ext cx="91440" cy="91440"/>
          </a:xfrm>
          <a:prstGeom prst="ellipse">
            <a:avLst/>
          </a:prstGeom>
          <a:solidFill>
            <a:srgbClr val="94A3B8"/>
          </a:solidFill>
          <a:ln/>
        </p:spPr>
        <p:txBody>
          <a:bodyPr/>
          <a:lstStyle/>
          <a:p>
            <a:endParaRPr/>
          </a:p>
        </p:txBody>
      </p:sp>
      <p:sp>
        <p:nvSpPr>
          <p:cNvPr id="8" name="Text 6"/>
          <p:cNvSpPr/>
          <p:nvPr/>
        </p:nvSpPr>
        <p:spPr>
          <a:xfrm>
            <a:off x="457200" y="1463040"/>
            <a:ext cx="1572768" cy="274320"/>
          </a:xfrm>
          <a:prstGeom prst="rect">
            <a:avLst/>
          </a:prstGeom>
          <a:noFill/>
          <a:ln/>
        </p:spPr>
        <p:txBody>
          <a:bodyPr wrap="square" lIns="0" tIns="0" rIns="0" bIns="0" rtlCol="0" anchor="ctr"/>
          <a:lstStyle/>
          <a:p>
            <a:pPr marL="0" indent="0" algn="ctr">
              <a:buNone/>
            </a:pPr>
            <a:r>
              <a:rPr lang="en-US" sz="1200" b="1" dirty="0">
                <a:solidFill>
                  <a:srgbClr val="94A3B8"/>
                </a:solidFill>
                <a:latin typeface="Inter" pitchFamily="34" charset="0"/>
                <a:ea typeface="Inter" pitchFamily="34" charset="-122"/>
                <a:cs typeface="Inter" pitchFamily="34" charset="-120"/>
              </a:rPr>
              <a:t>2021</a:t>
            </a:r>
            <a:endParaRPr lang="en-US" sz="1200" dirty="0"/>
          </a:p>
        </p:txBody>
      </p:sp>
      <p:sp>
        <p:nvSpPr>
          <p:cNvPr id="9" name="Shape 7"/>
          <p:cNvSpPr/>
          <p:nvPr/>
        </p:nvSpPr>
        <p:spPr>
          <a:xfrm>
            <a:off x="457200" y="2148840"/>
            <a:ext cx="1572768" cy="1600200"/>
          </a:xfrm>
          <a:prstGeom prst="roundRect">
            <a:avLst>
              <a:gd name="adj" fmla="val 3488"/>
            </a:avLst>
          </a:prstGeom>
          <a:solidFill>
            <a:srgbClr val="1B2640"/>
          </a:solidFill>
          <a:ln/>
        </p:spPr>
        <p:txBody>
          <a:bodyPr/>
          <a:lstStyle/>
          <a:p>
            <a:endParaRPr/>
          </a:p>
        </p:txBody>
      </p:sp>
      <p:sp>
        <p:nvSpPr>
          <p:cNvPr id="10" name="Text 8"/>
          <p:cNvSpPr/>
          <p:nvPr/>
        </p:nvSpPr>
        <p:spPr>
          <a:xfrm>
            <a:off x="530352" y="2267712"/>
            <a:ext cx="1426464" cy="320040"/>
          </a:xfrm>
          <a:prstGeom prst="rect">
            <a:avLst/>
          </a:prstGeom>
          <a:noFill/>
          <a:ln/>
        </p:spPr>
        <p:txBody>
          <a:bodyPr wrap="square" lIns="0" tIns="0" rIns="0" bIns="0" rtlCol="0" anchor="ctr"/>
          <a:lstStyle/>
          <a:p>
            <a:pPr marL="0" indent="0" algn="ctr">
              <a:buNone/>
            </a:pPr>
            <a:r>
              <a:rPr lang="en-US" sz="1250" b="1" dirty="0">
                <a:solidFill>
                  <a:srgbClr val="F8FAFC"/>
                </a:solidFill>
                <a:latin typeface="Inter" pitchFamily="34" charset="0"/>
                <a:ea typeface="Inter" pitchFamily="34" charset="-122"/>
                <a:cs typeface="Inter" pitchFamily="34" charset="-120"/>
              </a:rPr>
              <a:t>autocomplete</a:t>
            </a:r>
            <a:endParaRPr lang="en-US" sz="1250" dirty="0"/>
          </a:p>
        </p:txBody>
      </p:sp>
      <p:sp>
        <p:nvSpPr>
          <p:cNvPr id="11" name="Text 9"/>
          <p:cNvSpPr/>
          <p:nvPr/>
        </p:nvSpPr>
        <p:spPr>
          <a:xfrm>
            <a:off x="530352" y="2633472"/>
            <a:ext cx="1426464" cy="1005840"/>
          </a:xfrm>
          <a:prstGeom prst="rect">
            <a:avLst/>
          </a:prstGeom>
          <a:noFill/>
          <a:ln/>
        </p:spPr>
        <p:txBody>
          <a:bodyPr wrap="square" lIns="0" tIns="0" rIns="0" bIns="0" rtlCol="0" anchor="ctr"/>
          <a:lstStyle/>
          <a:p>
            <a:pPr marL="0" indent="0" algn="ctr">
              <a:buNone/>
            </a:pPr>
            <a:r>
              <a:rPr lang="en-US" sz="950" dirty="0">
                <a:solidFill>
                  <a:srgbClr val="94A3B8"/>
                </a:solidFill>
                <a:latin typeface="Inter" pitchFamily="34" charset="0"/>
                <a:ea typeface="Inter" pitchFamily="34" charset="-122"/>
                <a:cs typeface="Inter" pitchFamily="34" charset="-120"/>
              </a:rPr>
              <a:t>AI finishes your line</a:t>
            </a:r>
            <a:endParaRPr lang="en-US" sz="950" dirty="0"/>
          </a:p>
          <a:p>
            <a:pPr marL="0" indent="0" algn="ctr">
              <a:buNone/>
            </a:pPr>
            <a:r>
              <a:rPr lang="en-US" sz="950" dirty="0">
                <a:solidFill>
                  <a:srgbClr val="94A3B8"/>
                </a:solidFill>
                <a:latin typeface="Inter" pitchFamily="34" charset="0"/>
                <a:ea typeface="Inter" pitchFamily="34" charset="-122"/>
                <a:cs typeface="Inter" pitchFamily="34" charset="-120"/>
              </a:rPr>
              <a:t>(GitHub Copilot preview)</a:t>
            </a:r>
            <a:endParaRPr lang="en-US" sz="950" dirty="0"/>
          </a:p>
        </p:txBody>
      </p:sp>
      <p:sp>
        <p:nvSpPr>
          <p:cNvPr id="12" name="Shape 10"/>
          <p:cNvSpPr/>
          <p:nvPr/>
        </p:nvSpPr>
        <p:spPr>
          <a:xfrm>
            <a:off x="2889504" y="1837944"/>
            <a:ext cx="91440" cy="91440"/>
          </a:xfrm>
          <a:prstGeom prst="ellipse">
            <a:avLst/>
          </a:prstGeom>
          <a:solidFill>
            <a:srgbClr val="94A3B8"/>
          </a:solidFill>
          <a:ln/>
        </p:spPr>
        <p:txBody>
          <a:bodyPr/>
          <a:lstStyle/>
          <a:p>
            <a:endParaRPr/>
          </a:p>
        </p:txBody>
      </p:sp>
      <p:sp>
        <p:nvSpPr>
          <p:cNvPr id="13" name="Text 11"/>
          <p:cNvSpPr/>
          <p:nvPr/>
        </p:nvSpPr>
        <p:spPr>
          <a:xfrm>
            <a:off x="2148840" y="1463040"/>
            <a:ext cx="1572768" cy="274320"/>
          </a:xfrm>
          <a:prstGeom prst="rect">
            <a:avLst/>
          </a:prstGeom>
          <a:noFill/>
          <a:ln/>
        </p:spPr>
        <p:txBody>
          <a:bodyPr wrap="square" lIns="0" tIns="0" rIns="0" bIns="0" rtlCol="0" anchor="ctr"/>
          <a:lstStyle/>
          <a:p>
            <a:pPr marL="0" indent="0" algn="ctr">
              <a:buNone/>
            </a:pPr>
            <a:r>
              <a:rPr lang="en-US" sz="1200" b="1" dirty="0">
                <a:solidFill>
                  <a:srgbClr val="94A3B8"/>
                </a:solidFill>
                <a:latin typeface="Inter" pitchFamily="34" charset="0"/>
                <a:ea typeface="Inter" pitchFamily="34" charset="-122"/>
                <a:cs typeface="Inter" pitchFamily="34" charset="-120"/>
              </a:rPr>
              <a:t>2022</a:t>
            </a:r>
            <a:endParaRPr lang="en-US" sz="1200" dirty="0"/>
          </a:p>
        </p:txBody>
      </p:sp>
      <p:sp>
        <p:nvSpPr>
          <p:cNvPr id="14" name="Shape 12"/>
          <p:cNvSpPr/>
          <p:nvPr/>
        </p:nvSpPr>
        <p:spPr>
          <a:xfrm>
            <a:off x="2148840" y="2148840"/>
            <a:ext cx="1572768" cy="1600200"/>
          </a:xfrm>
          <a:prstGeom prst="roundRect">
            <a:avLst>
              <a:gd name="adj" fmla="val 3488"/>
            </a:avLst>
          </a:prstGeom>
          <a:solidFill>
            <a:srgbClr val="1B2640"/>
          </a:solidFill>
          <a:ln/>
        </p:spPr>
        <p:txBody>
          <a:bodyPr/>
          <a:lstStyle/>
          <a:p>
            <a:endParaRPr/>
          </a:p>
        </p:txBody>
      </p:sp>
      <p:sp>
        <p:nvSpPr>
          <p:cNvPr id="15" name="Text 13"/>
          <p:cNvSpPr/>
          <p:nvPr/>
        </p:nvSpPr>
        <p:spPr>
          <a:xfrm>
            <a:off x="2221992" y="2267712"/>
            <a:ext cx="1426464" cy="320040"/>
          </a:xfrm>
          <a:prstGeom prst="rect">
            <a:avLst/>
          </a:prstGeom>
          <a:noFill/>
          <a:ln/>
        </p:spPr>
        <p:txBody>
          <a:bodyPr wrap="square" lIns="0" tIns="0" rIns="0" bIns="0" rtlCol="0" anchor="ctr"/>
          <a:lstStyle/>
          <a:p>
            <a:pPr marL="0" indent="0" algn="ctr">
              <a:buNone/>
            </a:pPr>
            <a:r>
              <a:rPr lang="en-US" sz="1250" b="1" dirty="0">
                <a:solidFill>
                  <a:srgbClr val="F8FAFC"/>
                </a:solidFill>
                <a:latin typeface="Inter" pitchFamily="34" charset="0"/>
                <a:ea typeface="Inter" pitchFamily="34" charset="-122"/>
                <a:cs typeface="Inter" pitchFamily="34" charset="-120"/>
              </a:rPr>
              <a:t>conversation</a:t>
            </a:r>
            <a:endParaRPr lang="en-US" sz="1250" dirty="0"/>
          </a:p>
        </p:txBody>
      </p:sp>
      <p:sp>
        <p:nvSpPr>
          <p:cNvPr id="16" name="Text 14"/>
          <p:cNvSpPr/>
          <p:nvPr/>
        </p:nvSpPr>
        <p:spPr>
          <a:xfrm>
            <a:off x="2221992" y="2633472"/>
            <a:ext cx="1426464" cy="1005840"/>
          </a:xfrm>
          <a:prstGeom prst="rect">
            <a:avLst/>
          </a:prstGeom>
          <a:noFill/>
          <a:ln/>
        </p:spPr>
        <p:txBody>
          <a:bodyPr wrap="square" lIns="0" tIns="0" rIns="0" bIns="0" rtlCol="0" anchor="ctr"/>
          <a:lstStyle/>
          <a:p>
            <a:pPr marL="0" indent="0" algn="ctr">
              <a:buNone/>
            </a:pPr>
            <a:r>
              <a:rPr lang="en-US" sz="950" dirty="0">
                <a:solidFill>
                  <a:srgbClr val="94A3B8"/>
                </a:solidFill>
                <a:latin typeface="Inter" pitchFamily="34" charset="0"/>
                <a:ea typeface="Inter" pitchFamily="34" charset="-122"/>
                <a:cs typeface="Inter" pitchFamily="34" charset="-120"/>
              </a:rPr>
              <a:t>you ask, it answers</a:t>
            </a:r>
            <a:endParaRPr lang="en-US" sz="950" dirty="0"/>
          </a:p>
          <a:p>
            <a:pPr marL="0" indent="0" algn="ctr">
              <a:buNone/>
            </a:pPr>
            <a:r>
              <a:rPr lang="en-US" sz="950" dirty="0">
                <a:solidFill>
                  <a:srgbClr val="94A3B8"/>
                </a:solidFill>
                <a:latin typeface="Inter" pitchFamily="34" charset="0"/>
                <a:ea typeface="Inter" pitchFamily="34" charset="-122"/>
                <a:cs typeface="Inter" pitchFamily="34" charset="-120"/>
              </a:rPr>
              <a:t>(ChatGPT, Nov 2022)</a:t>
            </a:r>
            <a:endParaRPr lang="en-US" sz="950" dirty="0"/>
          </a:p>
        </p:txBody>
      </p:sp>
      <p:sp>
        <p:nvSpPr>
          <p:cNvPr id="17" name="Shape 15"/>
          <p:cNvSpPr/>
          <p:nvPr/>
        </p:nvSpPr>
        <p:spPr>
          <a:xfrm>
            <a:off x="4581144" y="1837944"/>
            <a:ext cx="91440" cy="91440"/>
          </a:xfrm>
          <a:prstGeom prst="ellipse">
            <a:avLst/>
          </a:prstGeom>
          <a:solidFill>
            <a:srgbClr val="94A3B8"/>
          </a:solidFill>
          <a:ln/>
        </p:spPr>
        <p:txBody>
          <a:bodyPr/>
          <a:lstStyle/>
          <a:p>
            <a:endParaRPr/>
          </a:p>
        </p:txBody>
      </p:sp>
      <p:sp>
        <p:nvSpPr>
          <p:cNvPr id="18" name="Text 16"/>
          <p:cNvSpPr/>
          <p:nvPr/>
        </p:nvSpPr>
        <p:spPr>
          <a:xfrm>
            <a:off x="3840480" y="1463040"/>
            <a:ext cx="1572768" cy="274320"/>
          </a:xfrm>
          <a:prstGeom prst="rect">
            <a:avLst/>
          </a:prstGeom>
          <a:noFill/>
          <a:ln/>
        </p:spPr>
        <p:txBody>
          <a:bodyPr wrap="square" lIns="0" tIns="0" rIns="0" bIns="0" rtlCol="0" anchor="ctr"/>
          <a:lstStyle/>
          <a:p>
            <a:pPr marL="0" indent="0" algn="ctr">
              <a:buNone/>
            </a:pPr>
            <a:r>
              <a:rPr lang="en-US" sz="1200" b="1" dirty="0">
                <a:solidFill>
                  <a:srgbClr val="94A3B8"/>
                </a:solidFill>
                <a:latin typeface="Inter" pitchFamily="34" charset="0"/>
                <a:ea typeface="Inter" pitchFamily="34" charset="-122"/>
                <a:cs typeface="Inter" pitchFamily="34" charset="-120"/>
              </a:rPr>
              <a:t>2024</a:t>
            </a:r>
            <a:endParaRPr lang="en-US" sz="1200" dirty="0"/>
          </a:p>
        </p:txBody>
      </p:sp>
      <p:sp>
        <p:nvSpPr>
          <p:cNvPr id="19" name="Shape 17"/>
          <p:cNvSpPr/>
          <p:nvPr/>
        </p:nvSpPr>
        <p:spPr>
          <a:xfrm>
            <a:off x="3840480" y="2148840"/>
            <a:ext cx="1572768" cy="1600200"/>
          </a:xfrm>
          <a:prstGeom prst="roundRect">
            <a:avLst>
              <a:gd name="adj" fmla="val 3488"/>
            </a:avLst>
          </a:prstGeom>
          <a:solidFill>
            <a:srgbClr val="1B2640"/>
          </a:solidFill>
          <a:ln/>
        </p:spPr>
        <p:txBody>
          <a:bodyPr/>
          <a:lstStyle/>
          <a:p>
            <a:endParaRPr/>
          </a:p>
        </p:txBody>
      </p:sp>
      <p:sp>
        <p:nvSpPr>
          <p:cNvPr id="20" name="Text 18"/>
          <p:cNvSpPr/>
          <p:nvPr/>
        </p:nvSpPr>
        <p:spPr>
          <a:xfrm>
            <a:off x="3913632" y="2267712"/>
            <a:ext cx="1426464" cy="320040"/>
          </a:xfrm>
          <a:prstGeom prst="rect">
            <a:avLst/>
          </a:prstGeom>
          <a:noFill/>
          <a:ln/>
        </p:spPr>
        <p:txBody>
          <a:bodyPr wrap="square" lIns="0" tIns="0" rIns="0" bIns="0" rtlCol="0" anchor="ctr"/>
          <a:lstStyle/>
          <a:p>
            <a:pPr marL="0" indent="0" algn="ctr">
              <a:buNone/>
            </a:pPr>
            <a:r>
              <a:rPr lang="en-US" sz="1250" b="1" dirty="0">
                <a:solidFill>
                  <a:srgbClr val="F8FAFC"/>
                </a:solidFill>
                <a:latin typeface="Inter" pitchFamily="34" charset="0"/>
                <a:ea typeface="Inter" pitchFamily="34" charset="-122"/>
                <a:cs typeface="Inter" pitchFamily="34" charset="-120"/>
              </a:rPr>
              <a:t>agents</a:t>
            </a:r>
            <a:endParaRPr lang="en-US" sz="1250" dirty="0"/>
          </a:p>
        </p:txBody>
      </p:sp>
      <p:sp>
        <p:nvSpPr>
          <p:cNvPr id="21" name="Text 19"/>
          <p:cNvSpPr/>
          <p:nvPr/>
        </p:nvSpPr>
        <p:spPr>
          <a:xfrm>
            <a:off x="3913632" y="2633472"/>
            <a:ext cx="1426464" cy="1005840"/>
          </a:xfrm>
          <a:prstGeom prst="rect">
            <a:avLst/>
          </a:prstGeom>
          <a:noFill/>
          <a:ln/>
        </p:spPr>
        <p:txBody>
          <a:bodyPr wrap="square" lIns="0" tIns="0" rIns="0" bIns="0" rtlCol="0" anchor="ctr"/>
          <a:lstStyle/>
          <a:p>
            <a:pPr marL="0" indent="0" algn="ctr">
              <a:buNone/>
            </a:pPr>
            <a:r>
              <a:rPr lang="en-US" sz="950" dirty="0">
                <a:solidFill>
                  <a:srgbClr val="94A3B8"/>
                </a:solidFill>
                <a:latin typeface="Inter" pitchFamily="34" charset="0"/>
                <a:ea typeface="Inter" pitchFamily="34" charset="-122"/>
                <a:cs typeface="Inter" pitchFamily="34" charset="-120"/>
              </a:rPr>
              <a:t>AI uses tools and</a:t>
            </a:r>
            <a:endParaRPr lang="en-US" sz="950" dirty="0"/>
          </a:p>
          <a:p>
            <a:pPr marL="0" indent="0" algn="ctr">
              <a:buNone/>
            </a:pPr>
            <a:r>
              <a:rPr lang="en-US" sz="950" dirty="0">
                <a:solidFill>
                  <a:srgbClr val="94A3B8"/>
                </a:solidFill>
                <a:latin typeface="Inter" pitchFamily="34" charset="0"/>
                <a:ea typeface="Inter" pitchFamily="34" charset="-122"/>
                <a:cs typeface="Inter" pitchFamily="34" charset="-120"/>
              </a:rPr>
              <a:t>acts on its own</a:t>
            </a:r>
            <a:endParaRPr lang="en-US" sz="950" dirty="0"/>
          </a:p>
        </p:txBody>
      </p:sp>
      <p:sp>
        <p:nvSpPr>
          <p:cNvPr id="22" name="Shape 20"/>
          <p:cNvSpPr/>
          <p:nvPr/>
        </p:nvSpPr>
        <p:spPr>
          <a:xfrm>
            <a:off x="6272784" y="1837944"/>
            <a:ext cx="91440" cy="91440"/>
          </a:xfrm>
          <a:prstGeom prst="ellipse">
            <a:avLst/>
          </a:prstGeom>
          <a:solidFill>
            <a:srgbClr val="3B82F6"/>
          </a:solidFill>
          <a:ln/>
        </p:spPr>
        <p:txBody>
          <a:bodyPr/>
          <a:lstStyle/>
          <a:p>
            <a:endParaRPr/>
          </a:p>
        </p:txBody>
      </p:sp>
      <p:sp>
        <p:nvSpPr>
          <p:cNvPr id="23" name="Text 21"/>
          <p:cNvSpPr/>
          <p:nvPr/>
        </p:nvSpPr>
        <p:spPr>
          <a:xfrm>
            <a:off x="5532120" y="1463040"/>
            <a:ext cx="1572768" cy="274320"/>
          </a:xfrm>
          <a:prstGeom prst="rect">
            <a:avLst/>
          </a:prstGeom>
          <a:noFill/>
          <a:ln/>
        </p:spPr>
        <p:txBody>
          <a:bodyPr wrap="square" lIns="0" tIns="0" rIns="0" bIns="0" rtlCol="0" anchor="ctr"/>
          <a:lstStyle/>
          <a:p>
            <a:pPr marL="0" indent="0" algn="ctr">
              <a:buNone/>
            </a:pPr>
            <a:r>
              <a:rPr lang="en-US" sz="1200" b="1" dirty="0">
                <a:solidFill>
                  <a:srgbClr val="3B82F6"/>
                </a:solidFill>
                <a:latin typeface="Inter" pitchFamily="34" charset="0"/>
                <a:ea typeface="Inter" pitchFamily="34" charset="-122"/>
                <a:cs typeface="Inter" pitchFamily="34" charset="-120"/>
              </a:rPr>
              <a:t>2025</a:t>
            </a:r>
            <a:endParaRPr lang="en-US" sz="1200" dirty="0"/>
          </a:p>
        </p:txBody>
      </p:sp>
      <p:sp>
        <p:nvSpPr>
          <p:cNvPr id="24" name="Shape 22"/>
          <p:cNvSpPr/>
          <p:nvPr/>
        </p:nvSpPr>
        <p:spPr>
          <a:xfrm>
            <a:off x="5532120" y="2148840"/>
            <a:ext cx="1572768" cy="1600200"/>
          </a:xfrm>
          <a:prstGeom prst="roundRect">
            <a:avLst>
              <a:gd name="adj" fmla="val 3488"/>
            </a:avLst>
          </a:prstGeom>
          <a:solidFill>
            <a:srgbClr val="1B2640"/>
          </a:solidFill>
          <a:ln/>
        </p:spPr>
        <p:txBody>
          <a:bodyPr/>
          <a:lstStyle/>
          <a:p>
            <a:endParaRPr/>
          </a:p>
        </p:txBody>
      </p:sp>
      <p:sp>
        <p:nvSpPr>
          <p:cNvPr id="25" name="Text 23"/>
          <p:cNvSpPr/>
          <p:nvPr/>
        </p:nvSpPr>
        <p:spPr>
          <a:xfrm>
            <a:off x="5605272" y="2267712"/>
            <a:ext cx="1426464" cy="320040"/>
          </a:xfrm>
          <a:prstGeom prst="rect">
            <a:avLst/>
          </a:prstGeom>
          <a:noFill/>
          <a:ln/>
        </p:spPr>
        <p:txBody>
          <a:bodyPr wrap="square" lIns="0" tIns="0" rIns="0" bIns="0" rtlCol="0" anchor="ctr"/>
          <a:lstStyle/>
          <a:p>
            <a:pPr marL="0" indent="0" algn="ctr">
              <a:buNone/>
            </a:pPr>
            <a:r>
              <a:rPr lang="en-US" sz="1250" b="1" dirty="0">
                <a:solidFill>
                  <a:srgbClr val="F8FAFC"/>
                </a:solidFill>
                <a:latin typeface="Inter" pitchFamily="34" charset="0"/>
                <a:ea typeface="Inter" pitchFamily="34" charset="-122"/>
                <a:cs typeface="Inter" pitchFamily="34" charset="-120"/>
              </a:rPr>
              <a:t>two cultures</a:t>
            </a:r>
            <a:endParaRPr lang="en-US" sz="1250" dirty="0"/>
          </a:p>
        </p:txBody>
      </p:sp>
      <p:sp>
        <p:nvSpPr>
          <p:cNvPr id="26" name="Text 24"/>
          <p:cNvSpPr/>
          <p:nvPr/>
        </p:nvSpPr>
        <p:spPr>
          <a:xfrm>
            <a:off x="5605272" y="2633472"/>
            <a:ext cx="1426464" cy="1005840"/>
          </a:xfrm>
          <a:prstGeom prst="rect">
            <a:avLst/>
          </a:prstGeom>
          <a:noFill/>
          <a:ln/>
        </p:spPr>
        <p:txBody>
          <a:bodyPr wrap="square" lIns="0" tIns="0" rIns="0" bIns="0" rtlCol="0" anchor="ctr"/>
          <a:lstStyle/>
          <a:p>
            <a:pPr marL="0" indent="0" algn="ctr">
              <a:buNone/>
            </a:pPr>
            <a:r>
              <a:rPr lang="en-US" sz="950" dirty="0">
                <a:solidFill>
                  <a:srgbClr val="94A3B8"/>
                </a:solidFill>
                <a:latin typeface="Inter" pitchFamily="34" charset="0"/>
                <a:ea typeface="Inter" pitchFamily="34" charset="-122"/>
                <a:cs typeface="Inter" pitchFamily="34" charset="-120"/>
              </a:rPr>
              <a:t>vibe coding (Feb)</a:t>
            </a:r>
            <a:endParaRPr lang="en-US" sz="950" dirty="0"/>
          </a:p>
          <a:p>
            <a:pPr marL="0" indent="0" algn="ctr">
              <a:buNone/>
            </a:pPr>
            <a:r>
              <a:rPr lang="en-US" sz="950" dirty="0">
                <a:solidFill>
                  <a:srgbClr val="94A3B8"/>
                </a:solidFill>
                <a:latin typeface="Inter" pitchFamily="34" charset="0"/>
                <a:ea typeface="Inter" pitchFamily="34" charset="-122"/>
                <a:cs typeface="Inter" pitchFamily="34" charset="-120"/>
              </a:rPr>
              <a:t>vibe engineering (Oct)</a:t>
            </a:r>
            <a:endParaRPr lang="en-US" sz="950" dirty="0"/>
          </a:p>
        </p:txBody>
      </p:sp>
      <p:sp>
        <p:nvSpPr>
          <p:cNvPr id="27" name="Shape 25"/>
          <p:cNvSpPr/>
          <p:nvPr/>
        </p:nvSpPr>
        <p:spPr>
          <a:xfrm>
            <a:off x="7964424" y="1837944"/>
            <a:ext cx="91440" cy="91440"/>
          </a:xfrm>
          <a:prstGeom prst="ellipse">
            <a:avLst/>
          </a:prstGeom>
          <a:solidFill>
            <a:srgbClr val="3B82F6"/>
          </a:solidFill>
          <a:ln/>
        </p:spPr>
        <p:txBody>
          <a:bodyPr/>
          <a:lstStyle/>
          <a:p>
            <a:endParaRPr/>
          </a:p>
        </p:txBody>
      </p:sp>
      <p:sp>
        <p:nvSpPr>
          <p:cNvPr id="28" name="Text 26"/>
          <p:cNvSpPr/>
          <p:nvPr/>
        </p:nvSpPr>
        <p:spPr>
          <a:xfrm>
            <a:off x="7223760" y="1463040"/>
            <a:ext cx="1572768" cy="274320"/>
          </a:xfrm>
          <a:prstGeom prst="rect">
            <a:avLst/>
          </a:prstGeom>
          <a:noFill/>
          <a:ln/>
        </p:spPr>
        <p:txBody>
          <a:bodyPr wrap="square" lIns="0" tIns="0" rIns="0" bIns="0" rtlCol="0" anchor="ctr"/>
          <a:lstStyle/>
          <a:p>
            <a:pPr marL="0" indent="0" algn="ctr">
              <a:buNone/>
            </a:pPr>
            <a:r>
              <a:rPr lang="en-US" sz="1200" b="1" dirty="0">
                <a:solidFill>
                  <a:srgbClr val="3B82F6"/>
                </a:solidFill>
                <a:latin typeface="Inter" pitchFamily="34" charset="0"/>
                <a:ea typeface="Inter" pitchFamily="34" charset="-122"/>
                <a:cs typeface="Inter" pitchFamily="34" charset="-120"/>
              </a:rPr>
              <a:t>2026</a:t>
            </a:r>
            <a:endParaRPr lang="en-US" sz="1200" dirty="0"/>
          </a:p>
        </p:txBody>
      </p:sp>
      <p:sp>
        <p:nvSpPr>
          <p:cNvPr id="29" name="Shape 27"/>
          <p:cNvSpPr/>
          <p:nvPr/>
        </p:nvSpPr>
        <p:spPr>
          <a:xfrm>
            <a:off x="7223760" y="2148840"/>
            <a:ext cx="1572768" cy="1600200"/>
          </a:xfrm>
          <a:prstGeom prst="roundRect">
            <a:avLst>
              <a:gd name="adj" fmla="val 3488"/>
            </a:avLst>
          </a:prstGeom>
          <a:solidFill>
            <a:srgbClr val="1B2640"/>
          </a:solidFill>
          <a:ln/>
        </p:spPr>
        <p:txBody>
          <a:bodyPr/>
          <a:lstStyle/>
          <a:p>
            <a:endParaRPr/>
          </a:p>
        </p:txBody>
      </p:sp>
      <p:sp>
        <p:nvSpPr>
          <p:cNvPr id="30" name="Text 28"/>
          <p:cNvSpPr/>
          <p:nvPr/>
        </p:nvSpPr>
        <p:spPr>
          <a:xfrm>
            <a:off x="7296912" y="2267712"/>
            <a:ext cx="1426464" cy="320040"/>
          </a:xfrm>
          <a:prstGeom prst="rect">
            <a:avLst/>
          </a:prstGeom>
          <a:noFill/>
          <a:ln/>
        </p:spPr>
        <p:txBody>
          <a:bodyPr wrap="square" lIns="0" tIns="0" rIns="0" bIns="0" rtlCol="0" anchor="ctr"/>
          <a:lstStyle/>
          <a:p>
            <a:pPr marL="0" indent="0" algn="ctr">
              <a:buNone/>
            </a:pPr>
            <a:r>
              <a:rPr lang="en-US" sz="1250" b="1" dirty="0">
                <a:solidFill>
                  <a:srgbClr val="F8FAFC"/>
                </a:solidFill>
                <a:latin typeface="Inter" pitchFamily="34" charset="0"/>
                <a:ea typeface="Inter" pitchFamily="34" charset="-122"/>
                <a:cs typeface="Inter" pitchFamily="34" charset="-120"/>
              </a:rPr>
              <a:t>orchestration</a:t>
            </a:r>
            <a:endParaRPr lang="en-US" sz="1250" dirty="0"/>
          </a:p>
        </p:txBody>
      </p:sp>
      <p:sp>
        <p:nvSpPr>
          <p:cNvPr id="31" name="Text 29"/>
          <p:cNvSpPr/>
          <p:nvPr/>
        </p:nvSpPr>
        <p:spPr>
          <a:xfrm>
            <a:off x="7296912" y="2633472"/>
            <a:ext cx="1426464" cy="1005840"/>
          </a:xfrm>
          <a:prstGeom prst="rect">
            <a:avLst/>
          </a:prstGeom>
          <a:noFill/>
          <a:ln/>
        </p:spPr>
        <p:txBody>
          <a:bodyPr wrap="square" lIns="0" tIns="0" rIns="0" bIns="0" rtlCol="0" anchor="ctr"/>
          <a:lstStyle/>
          <a:p>
            <a:pPr marL="0" indent="0" algn="ctr">
              <a:buNone/>
            </a:pPr>
            <a:r>
              <a:rPr lang="en-US" sz="950" dirty="0">
                <a:solidFill>
                  <a:srgbClr val="94A3B8"/>
                </a:solidFill>
                <a:latin typeface="Inter" pitchFamily="34" charset="0"/>
                <a:ea typeface="Inter" pitchFamily="34" charset="-122"/>
                <a:cs typeface="Inter" pitchFamily="34" charset="-120"/>
              </a:rPr>
              <a:t>teams of specialists,</a:t>
            </a:r>
            <a:endParaRPr lang="en-US" sz="950" dirty="0"/>
          </a:p>
          <a:p>
            <a:pPr marL="0" indent="0" algn="ctr">
              <a:buNone/>
            </a:pPr>
            <a:r>
              <a:rPr lang="en-US" sz="950" dirty="0">
                <a:solidFill>
                  <a:srgbClr val="94A3B8"/>
                </a:solidFill>
                <a:latin typeface="Inter" pitchFamily="34" charset="0"/>
                <a:ea typeface="Inter" pitchFamily="34" charset="-122"/>
                <a:cs typeface="Inter" pitchFamily="34" charset="-120"/>
              </a:rPr>
              <a:t>spun up on demand</a:t>
            </a:r>
            <a:endParaRPr lang="en-US" sz="950" dirty="0"/>
          </a:p>
        </p:txBody>
      </p:sp>
      <p:sp>
        <p:nvSpPr>
          <p:cNvPr id="32" name="Text 30"/>
          <p:cNvSpPr/>
          <p:nvPr/>
        </p:nvSpPr>
        <p:spPr>
          <a:xfrm>
            <a:off x="457200" y="4069080"/>
            <a:ext cx="8229600" cy="365760"/>
          </a:xfrm>
          <a:prstGeom prst="rect">
            <a:avLst/>
          </a:prstGeom>
          <a:noFill/>
          <a:ln/>
        </p:spPr>
        <p:txBody>
          <a:bodyPr wrap="square" lIns="0" tIns="0" rIns="0" bIns="0" rtlCol="0" anchor="ctr"/>
          <a:lstStyle/>
          <a:p>
            <a:pPr marL="0" indent="0" algn="ctr">
              <a:buNone/>
            </a:pPr>
            <a:r>
              <a:rPr lang="en-US" sz="1300" i="1" dirty="0">
                <a:solidFill>
                  <a:srgbClr val="3B82F6"/>
                </a:solidFill>
                <a:latin typeface="Inter" pitchFamily="34" charset="0"/>
                <a:ea typeface="Inter" pitchFamily="34" charset="-122"/>
                <a:cs typeface="Inter" pitchFamily="34" charset="-120"/>
              </a:rPr>
              <a:t>each shift moved the human up one level: from typing, to asking, to directing, to designing the system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01 · the evolution</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04</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01 · THE EVOLUTION</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vibe coding</a:t>
            </a:r>
            <a:endParaRPr lang="en-US" sz="2800" dirty="0"/>
          </a:p>
        </p:txBody>
      </p:sp>
      <p:sp>
        <p:nvSpPr>
          <p:cNvPr id="6" name="Text 4"/>
          <p:cNvSpPr/>
          <p:nvPr/>
        </p:nvSpPr>
        <p:spPr>
          <a:xfrm>
            <a:off x="457200" y="1417320"/>
            <a:ext cx="8229600" cy="365760"/>
          </a:xfrm>
          <a:prstGeom prst="rect">
            <a:avLst/>
          </a:prstGeom>
          <a:noFill/>
          <a:ln/>
        </p:spPr>
        <p:txBody>
          <a:bodyPr wrap="square" lIns="0" tIns="0" rIns="0" bIns="0" rtlCol="0" anchor="ctr"/>
          <a:lstStyle/>
          <a:p>
            <a:pPr marL="0" indent="0">
              <a:buNone/>
            </a:pPr>
            <a:r>
              <a:rPr lang="en-US" sz="1400" dirty="0">
                <a:solidFill>
                  <a:srgbClr val="94A3B8"/>
                </a:solidFill>
                <a:latin typeface="Inter" pitchFamily="34" charset="0"/>
                <a:ea typeface="Inter" pitchFamily="34" charset="-122"/>
                <a:cs typeface="Inter" pitchFamily="34" charset="-120"/>
              </a:rPr>
              <a:t>named by Andrej Karpathy, february 2025: </a:t>
            </a:r>
            <a:r>
              <a:rPr lang="en-US" sz="1400" i="1" dirty="0">
                <a:solidFill>
                  <a:srgbClr val="F8FAFC"/>
                </a:solidFill>
                <a:latin typeface="Inter" pitchFamily="34" charset="0"/>
                <a:ea typeface="Inter" pitchFamily="34" charset="-122"/>
                <a:cs typeface="Inter" pitchFamily="34" charset="-120"/>
              </a:rPr>
              <a:t>“fully give in to the vibes”</a:t>
            </a:r>
            <a:endParaRPr lang="en-US" sz="1400" dirty="0"/>
          </a:p>
        </p:txBody>
      </p:sp>
      <p:sp>
        <p:nvSpPr>
          <p:cNvPr id="7" name="Shape 5"/>
          <p:cNvSpPr/>
          <p:nvPr/>
        </p:nvSpPr>
        <p:spPr>
          <a:xfrm>
            <a:off x="457200" y="2011680"/>
            <a:ext cx="2651760" cy="1371600"/>
          </a:xfrm>
          <a:prstGeom prst="roundRect">
            <a:avLst>
              <a:gd name="adj" fmla="val 4667"/>
            </a:avLst>
          </a:prstGeom>
          <a:solidFill>
            <a:srgbClr val="1B2640"/>
          </a:solidFill>
          <a:ln/>
        </p:spPr>
        <p:txBody>
          <a:bodyPr/>
          <a:lstStyle/>
          <a:p>
            <a:endParaRPr/>
          </a:p>
        </p:txBody>
      </p:sp>
      <p:sp>
        <p:nvSpPr>
          <p:cNvPr id="8" name="Text 6"/>
          <p:cNvSpPr/>
          <p:nvPr/>
        </p:nvSpPr>
        <p:spPr>
          <a:xfrm>
            <a:off x="640080" y="2194560"/>
            <a:ext cx="2286000" cy="320040"/>
          </a:xfrm>
          <a:prstGeom prst="rect">
            <a:avLst/>
          </a:prstGeom>
          <a:noFill/>
          <a:ln/>
        </p:spPr>
        <p:txBody>
          <a:bodyPr wrap="square" lIns="0" tIns="0" rIns="0" bIns="0" rtlCol="0" anchor="ctr"/>
          <a:lstStyle/>
          <a:p>
            <a:pPr marL="0" indent="0">
              <a:buNone/>
            </a:pPr>
            <a:r>
              <a:rPr lang="en-US" sz="1500" b="1" dirty="0">
                <a:solidFill>
                  <a:srgbClr val="3B82F6"/>
                </a:solidFill>
                <a:latin typeface="Inter" pitchFamily="34" charset="0"/>
                <a:ea typeface="Inter" pitchFamily="34" charset="-122"/>
                <a:cs typeface="Inter" pitchFamily="34" charset="-120"/>
              </a:rPr>
              <a:t>describe</a:t>
            </a:r>
            <a:endParaRPr lang="en-US" sz="1500" dirty="0"/>
          </a:p>
        </p:txBody>
      </p:sp>
      <p:sp>
        <p:nvSpPr>
          <p:cNvPr id="9" name="Text 7"/>
          <p:cNvSpPr/>
          <p:nvPr/>
        </p:nvSpPr>
        <p:spPr>
          <a:xfrm>
            <a:off x="640080" y="2560320"/>
            <a:ext cx="2286000" cy="68580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say what you want,</a:t>
            </a:r>
            <a:endParaRPr lang="en-US" sz="1150" dirty="0"/>
          </a:p>
          <a:p>
            <a:pPr marL="0" indent="0">
              <a:buNone/>
            </a:pPr>
            <a:r>
              <a:rPr lang="en-US" sz="1150" dirty="0">
                <a:solidFill>
                  <a:srgbClr val="94A3B8"/>
                </a:solidFill>
                <a:latin typeface="Inter" pitchFamily="34" charset="0"/>
                <a:ea typeface="Inter" pitchFamily="34" charset="-122"/>
                <a:cs typeface="Inter" pitchFamily="34" charset="-120"/>
              </a:rPr>
              <a:t>in plain language</a:t>
            </a:r>
            <a:endParaRPr lang="en-US" sz="1150" dirty="0"/>
          </a:p>
        </p:txBody>
      </p:sp>
      <p:sp>
        <p:nvSpPr>
          <p:cNvPr id="10" name="Shape 8"/>
          <p:cNvSpPr/>
          <p:nvPr/>
        </p:nvSpPr>
        <p:spPr>
          <a:xfrm>
            <a:off x="3291840" y="2011680"/>
            <a:ext cx="2651760" cy="1371600"/>
          </a:xfrm>
          <a:prstGeom prst="roundRect">
            <a:avLst>
              <a:gd name="adj" fmla="val 4667"/>
            </a:avLst>
          </a:prstGeom>
          <a:solidFill>
            <a:srgbClr val="1B2640"/>
          </a:solidFill>
          <a:ln/>
        </p:spPr>
        <p:txBody>
          <a:bodyPr/>
          <a:lstStyle/>
          <a:p>
            <a:endParaRPr/>
          </a:p>
        </p:txBody>
      </p:sp>
      <p:sp>
        <p:nvSpPr>
          <p:cNvPr id="11" name="Text 9"/>
          <p:cNvSpPr/>
          <p:nvPr/>
        </p:nvSpPr>
        <p:spPr>
          <a:xfrm>
            <a:off x="3474720" y="2194560"/>
            <a:ext cx="2286000" cy="320040"/>
          </a:xfrm>
          <a:prstGeom prst="rect">
            <a:avLst/>
          </a:prstGeom>
          <a:noFill/>
          <a:ln/>
        </p:spPr>
        <p:txBody>
          <a:bodyPr wrap="square" lIns="0" tIns="0" rIns="0" bIns="0" rtlCol="0" anchor="ctr"/>
          <a:lstStyle/>
          <a:p>
            <a:pPr marL="0" indent="0">
              <a:buNone/>
            </a:pPr>
            <a:r>
              <a:rPr lang="en-US" sz="1500" b="1" dirty="0">
                <a:solidFill>
                  <a:srgbClr val="3B82F6"/>
                </a:solidFill>
                <a:latin typeface="Inter" pitchFamily="34" charset="0"/>
                <a:ea typeface="Inter" pitchFamily="34" charset="-122"/>
                <a:cs typeface="Inter" pitchFamily="34" charset="-120"/>
              </a:rPr>
              <a:t>accept</a:t>
            </a:r>
            <a:endParaRPr lang="en-US" sz="1500" dirty="0"/>
          </a:p>
        </p:txBody>
      </p:sp>
      <p:sp>
        <p:nvSpPr>
          <p:cNvPr id="12" name="Text 10"/>
          <p:cNvSpPr/>
          <p:nvPr/>
        </p:nvSpPr>
        <p:spPr>
          <a:xfrm>
            <a:off x="3474720" y="2560320"/>
            <a:ext cx="2286000" cy="68580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take what the AI gives,</a:t>
            </a:r>
            <a:endParaRPr lang="en-US" sz="1150" dirty="0"/>
          </a:p>
          <a:p>
            <a:pPr marL="0" indent="0">
              <a:buNone/>
            </a:pPr>
            <a:r>
              <a:rPr lang="en-US" sz="1150" dirty="0">
                <a:solidFill>
                  <a:srgbClr val="94A3B8"/>
                </a:solidFill>
                <a:latin typeface="Inter" pitchFamily="34" charset="0"/>
                <a:ea typeface="Inter" pitchFamily="34" charset="-122"/>
                <a:cs typeface="Inter" pitchFamily="34" charset="-120"/>
              </a:rPr>
              <a:t>don't read the code</a:t>
            </a:r>
            <a:endParaRPr lang="en-US" sz="1150" dirty="0"/>
          </a:p>
        </p:txBody>
      </p:sp>
      <p:sp>
        <p:nvSpPr>
          <p:cNvPr id="13" name="Shape 11"/>
          <p:cNvSpPr/>
          <p:nvPr/>
        </p:nvSpPr>
        <p:spPr>
          <a:xfrm>
            <a:off x="6126480" y="2011680"/>
            <a:ext cx="2651760" cy="1371600"/>
          </a:xfrm>
          <a:prstGeom prst="roundRect">
            <a:avLst>
              <a:gd name="adj" fmla="val 4667"/>
            </a:avLst>
          </a:prstGeom>
          <a:solidFill>
            <a:srgbClr val="1B2640"/>
          </a:solidFill>
          <a:ln/>
        </p:spPr>
        <p:txBody>
          <a:bodyPr/>
          <a:lstStyle/>
          <a:p>
            <a:endParaRPr/>
          </a:p>
        </p:txBody>
      </p:sp>
      <p:sp>
        <p:nvSpPr>
          <p:cNvPr id="14" name="Text 12"/>
          <p:cNvSpPr/>
          <p:nvPr/>
        </p:nvSpPr>
        <p:spPr>
          <a:xfrm>
            <a:off x="6309360" y="2194560"/>
            <a:ext cx="2286000" cy="320040"/>
          </a:xfrm>
          <a:prstGeom prst="rect">
            <a:avLst/>
          </a:prstGeom>
          <a:noFill/>
          <a:ln/>
        </p:spPr>
        <p:txBody>
          <a:bodyPr wrap="square" lIns="0" tIns="0" rIns="0" bIns="0" rtlCol="0" anchor="ctr"/>
          <a:lstStyle/>
          <a:p>
            <a:pPr marL="0" indent="0">
              <a:buNone/>
            </a:pPr>
            <a:r>
              <a:rPr lang="en-US" sz="1500" b="1" dirty="0">
                <a:solidFill>
                  <a:srgbClr val="3B82F6"/>
                </a:solidFill>
                <a:latin typeface="Inter" pitchFamily="34" charset="0"/>
                <a:ea typeface="Inter" pitchFamily="34" charset="-122"/>
                <a:cs typeface="Inter" pitchFamily="34" charset="-120"/>
              </a:rPr>
              <a:t>iterate</a:t>
            </a:r>
            <a:endParaRPr lang="en-US" sz="1500" dirty="0"/>
          </a:p>
        </p:txBody>
      </p:sp>
      <p:sp>
        <p:nvSpPr>
          <p:cNvPr id="15" name="Text 13"/>
          <p:cNvSpPr/>
          <p:nvPr/>
        </p:nvSpPr>
        <p:spPr>
          <a:xfrm>
            <a:off x="6309360" y="2560320"/>
            <a:ext cx="2286000" cy="68580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paste the error back,</a:t>
            </a:r>
            <a:endParaRPr lang="en-US" sz="1150" dirty="0"/>
          </a:p>
          <a:p>
            <a:pPr marL="0" indent="0">
              <a:buNone/>
            </a:pPr>
            <a:r>
              <a:rPr lang="en-US" sz="1150" dirty="0">
                <a:solidFill>
                  <a:srgbClr val="94A3B8"/>
                </a:solidFill>
                <a:latin typeface="Inter" pitchFamily="34" charset="0"/>
                <a:ea typeface="Inter" pitchFamily="34" charset="-122"/>
                <a:cs typeface="Inter" pitchFamily="34" charset="-120"/>
              </a:rPr>
              <a:t>try again</a:t>
            </a:r>
            <a:endParaRPr lang="en-US" sz="1150" dirty="0"/>
          </a:p>
        </p:txBody>
      </p:sp>
      <p:sp>
        <p:nvSpPr>
          <p:cNvPr id="16" name="Text 14"/>
          <p:cNvSpPr/>
          <p:nvPr/>
        </p:nvSpPr>
        <p:spPr>
          <a:xfrm>
            <a:off x="457200" y="3794760"/>
            <a:ext cx="8229600" cy="365760"/>
          </a:xfrm>
          <a:prstGeom prst="rect">
            <a:avLst/>
          </a:prstGeom>
          <a:noFill/>
          <a:ln/>
        </p:spPr>
        <p:txBody>
          <a:bodyPr wrap="square" lIns="0" tIns="0" rIns="0" bIns="0" rtlCol="0" anchor="ctr"/>
          <a:lstStyle/>
          <a:p>
            <a:pPr marL="0" indent="0">
              <a:buNone/>
            </a:pPr>
            <a:r>
              <a:rPr lang="en-US" sz="1300" i="1" dirty="0">
                <a:solidFill>
                  <a:srgbClr val="94A3B8"/>
                </a:solidFill>
                <a:latin typeface="Inter" pitchFamily="34" charset="0"/>
                <a:ea typeface="Inter" pitchFamily="34" charset="-122"/>
                <a:cs typeface="Inter" pitchFamily="34" charset="-120"/>
              </a:rPr>
              <a:t>by november 2025, Collins Dictionary made it word of the year — this is now how millions of people build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01 · the evolution</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05</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01 · THE EVOLUTION</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vibe engineering</a:t>
            </a:r>
            <a:endParaRPr lang="en-US" sz="2800" dirty="0"/>
          </a:p>
        </p:txBody>
      </p:sp>
      <p:sp>
        <p:nvSpPr>
          <p:cNvPr id="6" name="Text 4"/>
          <p:cNvSpPr/>
          <p:nvPr/>
        </p:nvSpPr>
        <p:spPr>
          <a:xfrm>
            <a:off x="457200" y="1417320"/>
            <a:ext cx="8229600" cy="365760"/>
          </a:xfrm>
          <a:prstGeom prst="rect">
            <a:avLst/>
          </a:prstGeom>
          <a:noFill/>
          <a:ln/>
        </p:spPr>
        <p:txBody>
          <a:bodyPr wrap="square" lIns="0" tIns="0" rIns="0" bIns="0" rtlCol="0" anchor="ctr"/>
          <a:lstStyle/>
          <a:p>
            <a:pPr marL="0" indent="0">
              <a:buNone/>
            </a:pPr>
            <a:r>
              <a:rPr lang="en-US" sz="1400" dirty="0">
                <a:solidFill>
                  <a:srgbClr val="94A3B8"/>
                </a:solidFill>
                <a:latin typeface="Inter" pitchFamily="34" charset="0"/>
                <a:ea typeface="Inter" pitchFamily="34" charset="-122"/>
                <a:cs typeface="Inter" pitchFamily="34" charset="-120"/>
              </a:rPr>
              <a:t>proposed by Simon Willison, october 2025 — keep the speed, add the discipline</a:t>
            </a:r>
            <a:endParaRPr lang="en-US" sz="1400" dirty="0"/>
          </a:p>
        </p:txBody>
      </p:sp>
      <p:sp>
        <p:nvSpPr>
          <p:cNvPr id="7" name="Shape 5"/>
          <p:cNvSpPr/>
          <p:nvPr/>
        </p:nvSpPr>
        <p:spPr>
          <a:xfrm>
            <a:off x="457200" y="1965960"/>
            <a:ext cx="4023360" cy="1097280"/>
          </a:xfrm>
          <a:prstGeom prst="roundRect">
            <a:avLst>
              <a:gd name="adj" fmla="val 5833"/>
            </a:avLst>
          </a:prstGeom>
          <a:solidFill>
            <a:srgbClr val="1B2640"/>
          </a:solidFill>
          <a:ln/>
        </p:spPr>
        <p:txBody>
          <a:bodyPr/>
          <a:lstStyle/>
          <a:p>
            <a:endParaRPr/>
          </a:p>
        </p:txBody>
      </p:sp>
      <p:sp>
        <p:nvSpPr>
          <p:cNvPr id="8" name="Text 6"/>
          <p:cNvSpPr/>
          <p:nvPr/>
        </p:nvSpPr>
        <p:spPr>
          <a:xfrm>
            <a:off x="658368" y="2084832"/>
            <a:ext cx="3657600" cy="292608"/>
          </a:xfrm>
          <a:prstGeom prst="rect">
            <a:avLst/>
          </a:prstGeom>
          <a:noFill/>
          <a:ln/>
        </p:spPr>
        <p:txBody>
          <a:bodyPr wrap="square" lIns="0" tIns="0" rIns="0" bIns="0" rtlCol="0" anchor="ctr"/>
          <a:lstStyle/>
          <a:p>
            <a:pPr marL="0" indent="0">
              <a:buNone/>
            </a:pPr>
            <a:r>
              <a:rPr lang="en-US" sz="1400" b="1" dirty="0">
                <a:solidFill>
                  <a:srgbClr val="34D399"/>
                </a:solidFill>
                <a:latin typeface="Inter" pitchFamily="34" charset="0"/>
                <a:ea typeface="Inter" pitchFamily="34" charset="-122"/>
                <a:cs typeface="Inter" pitchFamily="34" charset="-120"/>
              </a:rPr>
              <a:t>plan first</a:t>
            </a:r>
            <a:endParaRPr lang="en-US" sz="1400" dirty="0"/>
          </a:p>
        </p:txBody>
      </p:sp>
      <p:sp>
        <p:nvSpPr>
          <p:cNvPr id="9" name="Text 7"/>
          <p:cNvSpPr/>
          <p:nvPr/>
        </p:nvSpPr>
        <p:spPr>
          <a:xfrm>
            <a:off x="658368" y="2404872"/>
            <a:ext cx="3657600" cy="594360"/>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the work is specified</a:t>
            </a:r>
            <a:endParaRPr lang="en-US" sz="1100" dirty="0"/>
          </a:p>
          <a:p>
            <a:pPr marL="0" indent="0">
              <a:buNone/>
            </a:pPr>
            <a:r>
              <a:rPr lang="en-US" sz="1100" dirty="0">
                <a:solidFill>
                  <a:srgbClr val="94A3B8"/>
                </a:solidFill>
                <a:latin typeface="Inter" pitchFamily="34" charset="0"/>
                <a:ea typeface="Inter" pitchFamily="34" charset="-122"/>
                <a:cs typeface="Inter" pitchFamily="34" charset="-120"/>
              </a:rPr>
              <a:t>before any code exists</a:t>
            </a:r>
            <a:endParaRPr lang="en-US" sz="1100" dirty="0"/>
          </a:p>
        </p:txBody>
      </p:sp>
      <p:sp>
        <p:nvSpPr>
          <p:cNvPr id="10" name="Shape 8"/>
          <p:cNvSpPr/>
          <p:nvPr/>
        </p:nvSpPr>
        <p:spPr>
          <a:xfrm>
            <a:off x="4709160" y="1965960"/>
            <a:ext cx="4023360" cy="1097280"/>
          </a:xfrm>
          <a:prstGeom prst="roundRect">
            <a:avLst>
              <a:gd name="adj" fmla="val 5833"/>
            </a:avLst>
          </a:prstGeom>
          <a:solidFill>
            <a:srgbClr val="1B2640"/>
          </a:solidFill>
          <a:ln/>
        </p:spPr>
        <p:txBody>
          <a:bodyPr/>
          <a:lstStyle/>
          <a:p>
            <a:endParaRPr/>
          </a:p>
        </p:txBody>
      </p:sp>
      <p:sp>
        <p:nvSpPr>
          <p:cNvPr id="11" name="Text 9"/>
          <p:cNvSpPr/>
          <p:nvPr/>
        </p:nvSpPr>
        <p:spPr>
          <a:xfrm>
            <a:off x="4910328" y="2084832"/>
            <a:ext cx="3657600" cy="292608"/>
          </a:xfrm>
          <a:prstGeom prst="rect">
            <a:avLst/>
          </a:prstGeom>
          <a:noFill/>
          <a:ln/>
        </p:spPr>
        <p:txBody>
          <a:bodyPr wrap="square" lIns="0" tIns="0" rIns="0" bIns="0" rtlCol="0" anchor="ctr"/>
          <a:lstStyle/>
          <a:p>
            <a:pPr marL="0" indent="0">
              <a:buNone/>
            </a:pPr>
            <a:r>
              <a:rPr lang="en-US" sz="1400" b="1" dirty="0">
                <a:solidFill>
                  <a:srgbClr val="34D399"/>
                </a:solidFill>
                <a:latin typeface="Inter" pitchFamily="34" charset="0"/>
                <a:ea typeface="Inter" pitchFamily="34" charset="-122"/>
                <a:cs typeface="Inter" pitchFamily="34" charset="-120"/>
              </a:rPr>
              <a:t>tests &amp; reviews</a:t>
            </a:r>
            <a:endParaRPr lang="en-US" sz="1400" dirty="0"/>
          </a:p>
        </p:txBody>
      </p:sp>
      <p:sp>
        <p:nvSpPr>
          <p:cNvPr id="12" name="Text 10"/>
          <p:cNvSpPr/>
          <p:nvPr/>
        </p:nvSpPr>
        <p:spPr>
          <a:xfrm>
            <a:off x="4910328" y="2404872"/>
            <a:ext cx="3657600" cy="594360"/>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every change is verified</a:t>
            </a:r>
            <a:endParaRPr lang="en-US" sz="1100" dirty="0"/>
          </a:p>
          <a:p>
            <a:pPr marL="0" indent="0">
              <a:buNone/>
            </a:pPr>
            <a:r>
              <a:rPr lang="en-US" sz="1100" dirty="0">
                <a:solidFill>
                  <a:srgbClr val="94A3B8"/>
                </a:solidFill>
                <a:latin typeface="Inter" pitchFamily="34" charset="0"/>
                <a:ea typeface="Inter" pitchFamily="34" charset="-122"/>
                <a:cs typeface="Inter" pitchFamily="34" charset="-120"/>
              </a:rPr>
              <a:t>by machines and humans</a:t>
            </a:r>
            <a:endParaRPr lang="en-US" sz="1100" dirty="0"/>
          </a:p>
        </p:txBody>
      </p:sp>
      <p:sp>
        <p:nvSpPr>
          <p:cNvPr id="13" name="Shape 11"/>
          <p:cNvSpPr/>
          <p:nvPr/>
        </p:nvSpPr>
        <p:spPr>
          <a:xfrm>
            <a:off x="457200" y="3200400"/>
            <a:ext cx="4023360" cy="1097280"/>
          </a:xfrm>
          <a:prstGeom prst="roundRect">
            <a:avLst>
              <a:gd name="adj" fmla="val 5833"/>
            </a:avLst>
          </a:prstGeom>
          <a:solidFill>
            <a:srgbClr val="1B2640"/>
          </a:solidFill>
          <a:ln/>
        </p:spPr>
        <p:txBody>
          <a:bodyPr/>
          <a:lstStyle/>
          <a:p>
            <a:endParaRPr/>
          </a:p>
        </p:txBody>
      </p:sp>
      <p:sp>
        <p:nvSpPr>
          <p:cNvPr id="14" name="Text 12"/>
          <p:cNvSpPr/>
          <p:nvPr/>
        </p:nvSpPr>
        <p:spPr>
          <a:xfrm>
            <a:off x="658368" y="3319272"/>
            <a:ext cx="3657600" cy="292608"/>
          </a:xfrm>
          <a:prstGeom prst="rect">
            <a:avLst/>
          </a:prstGeom>
          <a:noFill/>
          <a:ln/>
        </p:spPr>
        <p:txBody>
          <a:bodyPr wrap="square" lIns="0" tIns="0" rIns="0" bIns="0" rtlCol="0" anchor="ctr"/>
          <a:lstStyle/>
          <a:p>
            <a:pPr marL="0" indent="0">
              <a:buNone/>
            </a:pPr>
            <a:r>
              <a:rPr lang="en-US" sz="1400" b="1" dirty="0">
                <a:solidFill>
                  <a:srgbClr val="34D399"/>
                </a:solidFill>
                <a:latin typeface="Inter" pitchFamily="34" charset="0"/>
                <a:ea typeface="Inter" pitchFamily="34" charset="-122"/>
                <a:cs typeface="Inter" pitchFamily="34" charset="-120"/>
              </a:rPr>
              <a:t>written rules</a:t>
            </a:r>
            <a:endParaRPr lang="en-US" sz="1400" dirty="0"/>
          </a:p>
        </p:txBody>
      </p:sp>
      <p:sp>
        <p:nvSpPr>
          <p:cNvPr id="15" name="Text 13"/>
          <p:cNvSpPr/>
          <p:nvPr/>
        </p:nvSpPr>
        <p:spPr>
          <a:xfrm>
            <a:off x="658368" y="3639312"/>
            <a:ext cx="3657600" cy="594360"/>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conventions live in files</a:t>
            </a:r>
            <a:endParaRPr lang="en-US" sz="1100" dirty="0"/>
          </a:p>
          <a:p>
            <a:pPr marL="0" indent="0">
              <a:buNone/>
            </a:pPr>
            <a:r>
              <a:rPr lang="en-US" sz="1100" dirty="0">
                <a:solidFill>
                  <a:srgbClr val="94A3B8"/>
                </a:solidFill>
                <a:latin typeface="Inter" pitchFamily="34" charset="0"/>
                <a:ea typeface="Inter" pitchFamily="34" charset="-122"/>
                <a:cs typeface="Inter" pitchFamily="34" charset="-120"/>
              </a:rPr>
              <a:t>the AI reads every time</a:t>
            </a:r>
            <a:endParaRPr lang="en-US" sz="1100" dirty="0"/>
          </a:p>
        </p:txBody>
      </p:sp>
      <p:sp>
        <p:nvSpPr>
          <p:cNvPr id="16" name="Shape 14"/>
          <p:cNvSpPr/>
          <p:nvPr/>
        </p:nvSpPr>
        <p:spPr>
          <a:xfrm>
            <a:off x="4709160" y="3200400"/>
            <a:ext cx="4023360" cy="1097280"/>
          </a:xfrm>
          <a:prstGeom prst="roundRect">
            <a:avLst>
              <a:gd name="adj" fmla="val 5833"/>
            </a:avLst>
          </a:prstGeom>
          <a:solidFill>
            <a:srgbClr val="1B2640"/>
          </a:solidFill>
          <a:ln/>
        </p:spPr>
        <p:txBody>
          <a:bodyPr/>
          <a:lstStyle/>
          <a:p>
            <a:endParaRPr/>
          </a:p>
        </p:txBody>
      </p:sp>
      <p:sp>
        <p:nvSpPr>
          <p:cNvPr id="17" name="Text 15"/>
          <p:cNvSpPr/>
          <p:nvPr/>
        </p:nvSpPr>
        <p:spPr>
          <a:xfrm>
            <a:off x="4910328" y="3319272"/>
            <a:ext cx="3657600" cy="292608"/>
          </a:xfrm>
          <a:prstGeom prst="rect">
            <a:avLst/>
          </a:prstGeom>
          <a:noFill/>
          <a:ln/>
        </p:spPr>
        <p:txBody>
          <a:bodyPr wrap="square" lIns="0" tIns="0" rIns="0" bIns="0" rtlCol="0" anchor="ctr"/>
          <a:lstStyle/>
          <a:p>
            <a:pPr marL="0" indent="0">
              <a:buNone/>
            </a:pPr>
            <a:r>
              <a:rPr lang="en-US" sz="1400" b="1" dirty="0">
                <a:solidFill>
                  <a:srgbClr val="34D399"/>
                </a:solidFill>
                <a:latin typeface="Inter" pitchFamily="34" charset="0"/>
                <a:ea typeface="Inter" pitchFamily="34" charset="-122"/>
                <a:cs typeface="Inter" pitchFamily="34" charset="-120"/>
              </a:rPr>
              <a:t>honest stopping</a:t>
            </a:r>
            <a:endParaRPr lang="en-US" sz="1400" dirty="0"/>
          </a:p>
        </p:txBody>
      </p:sp>
      <p:sp>
        <p:nvSpPr>
          <p:cNvPr id="18" name="Text 16"/>
          <p:cNvSpPr/>
          <p:nvPr/>
        </p:nvSpPr>
        <p:spPr>
          <a:xfrm>
            <a:off x="4910328" y="3639312"/>
            <a:ext cx="3657600" cy="594360"/>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the system knows when</a:t>
            </a:r>
            <a:endParaRPr lang="en-US" sz="1100" dirty="0"/>
          </a:p>
          <a:p>
            <a:pPr marL="0" indent="0">
              <a:buNone/>
            </a:pPr>
            <a:r>
              <a:rPr lang="en-US" sz="1100" dirty="0">
                <a:solidFill>
                  <a:srgbClr val="94A3B8"/>
                </a:solidFill>
                <a:latin typeface="Inter" pitchFamily="34" charset="0"/>
                <a:ea typeface="Inter" pitchFamily="34" charset="-122"/>
                <a:cs typeface="Inter" pitchFamily="34" charset="-120"/>
              </a:rPr>
              <a:t>to hand back to a human</a:t>
            </a:r>
            <a:endParaRPr lang="en-US" sz="1100" dirty="0"/>
          </a:p>
        </p:txBody>
      </p:sp>
      <p:sp>
        <p:nvSpPr>
          <p:cNvPr id="19" name="Text 17"/>
          <p:cNvSpPr/>
          <p:nvPr/>
        </p:nvSpPr>
        <p:spPr>
          <a:xfrm>
            <a:off x="457200" y="4526280"/>
            <a:ext cx="8229600" cy="320040"/>
          </a:xfrm>
          <a:prstGeom prst="rect">
            <a:avLst/>
          </a:prstGeom>
          <a:noFill/>
          <a:ln/>
        </p:spPr>
        <p:txBody>
          <a:bodyPr wrap="square" lIns="0" tIns="0" rIns="0" bIns="0" rtlCol="0" anchor="ctr"/>
          <a:lstStyle/>
          <a:p>
            <a:pPr marL="0" indent="0">
              <a:buNone/>
            </a:pPr>
            <a:r>
              <a:rPr lang="en-US" sz="1300" i="1" dirty="0">
                <a:solidFill>
                  <a:srgbClr val="3B82F6"/>
                </a:solidFill>
                <a:latin typeface="Inter" pitchFamily="34" charset="0"/>
                <a:ea typeface="Inter" pitchFamily="34" charset="-122"/>
                <a:cs typeface="Inter" pitchFamily="34" charset="-120"/>
              </a:rPr>
              <a:t>the AI still writes the code — humans engineer the system around it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01 · the evolution</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06</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01 · THE EVOLUTION</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side by side</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3926131547"/>
              </p:ext>
            </p:extLst>
          </p:nvPr>
        </p:nvGraphicFramePr>
        <p:xfrm>
          <a:off x="457200" y="1508760"/>
          <a:ext cx="8229600" cy="2523744"/>
        </p:xfrm>
        <a:graphic>
          <a:graphicData uri="http://schemas.openxmlformats.org/drawingml/2006/table">
            <a:tbl>
              <a:tblPr/>
              <a:tblGrid>
                <a:gridCol w="23774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420624">
                <a:tc>
                  <a:txBody>
                    <a:bodyPr/>
                    <a:lstStyle/>
                    <a:p>
                      <a:pPr marL="0" indent="0" algn="l">
                        <a:buNone/>
                      </a:pPr>
                      <a:endParaRPr lang="en-US" sz="115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150" b="1" dirty="0">
                          <a:solidFill>
                            <a:srgbClr val="FBBF24"/>
                          </a:solidFill>
                          <a:latin typeface="Inter" pitchFamily="34" charset="0"/>
                          <a:ea typeface="Inter" pitchFamily="34" charset="-122"/>
                          <a:cs typeface="Inter" pitchFamily="34" charset="-120"/>
                        </a:rPr>
                        <a:t>vibe coding</a:t>
                      </a:r>
                      <a:endParaRPr lang="en-US" sz="115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150" b="1" dirty="0">
                          <a:solidFill>
                            <a:srgbClr val="34D399"/>
                          </a:solidFill>
                          <a:latin typeface="Inter" pitchFamily="34" charset="0"/>
                          <a:ea typeface="Inter" pitchFamily="34" charset="-122"/>
                          <a:cs typeface="Inter" pitchFamily="34" charset="-120"/>
                        </a:rPr>
                        <a:t>vibe engineering</a:t>
                      </a:r>
                      <a:endParaRPr lang="en-US" sz="115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extLst>
                  <a:ext uri="{0D108BD9-81ED-4DB2-BD59-A6C34878D82A}">
                    <a16:rowId xmlns:a16="http://schemas.microsoft.com/office/drawing/2014/main" val="10000"/>
                  </a:ext>
                </a:extLst>
              </a:tr>
              <a:tr h="420624">
                <a:tc>
                  <a:txBody>
                    <a:bodyPr/>
                    <a:lstStyle/>
                    <a:p>
                      <a:pPr marL="0" indent="0" algn="l">
                        <a:buNone/>
                      </a:pPr>
                      <a:r>
                        <a:rPr lang="en-US" sz="1200" b="1" dirty="0">
                          <a:solidFill>
                            <a:srgbClr val="94A3B8"/>
                          </a:solidFill>
                          <a:latin typeface="Inter" pitchFamily="34" charset="0"/>
                          <a:ea typeface="Inter" pitchFamily="34" charset="-122"/>
                          <a:cs typeface="Inter" pitchFamily="34" charset="-120"/>
                        </a:rPr>
                        <a:t>who reads the code</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nobody</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reviewers — human and AI</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extLst>
                  <a:ext uri="{0D108BD9-81ED-4DB2-BD59-A6C34878D82A}">
                    <a16:rowId xmlns:a16="http://schemas.microsoft.com/office/drawing/2014/main" val="10001"/>
                  </a:ext>
                </a:extLst>
              </a:tr>
              <a:tr h="420624">
                <a:tc>
                  <a:txBody>
                    <a:bodyPr/>
                    <a:lstStyle/>
                    <a:p>
                      <a:pPr marL="0" indent="0" algn="l">
                        <a:buNone/>
                      </a:pPr>
                      <a:r>
                        <a:rPr lang="en-US" sz="1200" b="1" dirty="0">
                          <a:solidFill>
                            <a:srgbClr val="94A3B8"/>
                          </a:solidFill>
                          <a:latin typeface="Inter" pitchFamily="34" charset="0"/>
                          <a:ea typeface="Inter" pitchFamily="34" charset="-122"/>
                          <a:cs typeface="Inter" pitchFamily="34" charset="-120"/>
                        </a:rPr>
                        <a:t>where the rules live</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in your head, per prompt</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in files, versioned with the repo</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extLst>
                  <a:ext uri="{0D108BD9-81ED-4DB2-BD59-A6C34878D82A}">
                    <a16:rowId xmlns:a16="http://schemas.microsoft.com/office/drawing/2014/main" val="10002"/>
                  </a:ext>
                </a:extLst>
              </a:tr>
              <a:tr h="420624">
                <a:tc>
                  <a:txBody>
                    <a:bodyPr/>
                    <a:lstStyle/>
                    <a:p>
                      <a:pPr marL="0" indent="0" algn="l">
                        <a:buNone/>
                      </a:pPr>
                      <a:r>
                        <a:rPr lang="en-US" sz="1200" b="1" dirty="0">
                          <a:solidFill>
                            <a:srgbClr val="94A3B8"/>
                          </a:solidFill>
                          <a:latin typeface="Inter" pitchFamily="34" charset="0"/>
                          <a:ea typeface="Inter" pitchFamily="34" charset="-122"/>
                          <a:cs typeface="Inter" pitchFamily="34" charset="-120"/>
                        </a:rPr>
                        <a:t>when something fails</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paste the error, hope</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diagnose</a:t>
                      </a:r>
                      <a:r>
                        <a:rPr lang="en-US" sz="1200">
                          <a:solidFill>
                            <a:srgbClr val="F8FAFC"/>
                          </a:solidFill>
                          <a:latin typeface="Inter" pitchFamily="34" charset="0"/>
                          <a:ea typeface="Inter" pitchFamily="34" charset="-122"/>
                          <a:cs typeface="Inter" pitchFamily="34" charset="-120"/>
                        </a:rPr>
                        <a:t>, retry , </a:t>
                      </a:r>
                      <a:r>
                        <a:rPr lang="en-US" sz="1200" dirty="0">
                          <a:solidFill>
                            <a:srgbClr val="F8FAFC"/>
                          </a:solidFill>
                          <a:latin typeface="Inter" pitchFamily="34" charset="0"/>
                          <a:ea typeface="Inter" pitchFamily="34" charset="-122"/>
                          <a:cs typeface="Inter" pitchFamily="34" charset="-120"/>
                        </a:rPr>
                        <a:t>escalate</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extLst>
                  <a:ext uri="{0D108BD9-81ED-4DB2-BD59-A6C34878D82A}">
                    <a16:rowId xmlns:a16="http://schemas.microsoft.com/office/drawing/2014/main" val="10003"/>
                  </a:ext>
                </a:extLst>
              </a:tr>
              <a:tr h="420624">
                <a:tc>
                  <a:txBody>
                    <a:bodyPr/>
                    <a:lstStyle/>
                    <a:p>
                      <a:pPr marL="0" indent="0" algn="l">
                        <a:buNone/>
                      </a:pPr>
                      <a:r>
                        <a:rPr lang="en-US" sz="1200" b="1" dirty="0">
                          <a:solidFill>
                            <a:srgbClr val="94A3B8"/>
                          </a:solidFill>
                          <a:latin typeface="Inter" pitchFamily="34" charset="0"/>
                          <a:ea typeface="Inter" pitchFamily="34" charset="-122"/>
                          <a:cs typeface="Inter" pitchFamily="34" charset="-120"/>
                        </a:rPr>
                        <a:t>what ships</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whatever ran last</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only what passes every gate</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extLst>
                  <a:ext uri="{0D108BD9-81ED-4DB2-BD59-A6C34878D82A}">
                    <a16:rowId xmlns:a16="http://schemas.microsoft.com/office/drawing/2014/main" val="10004"/>
                  </a:ext>
                </a:extLst>
              </a:tr>
              <a:tr h="420624">
                <a:tc>
                  <a:txBody>
                    <a:bodyPr/>
                    <a:lstStyle/>
                    <a:p>
                      <a:pPr marL="0" indent="0" algn="l">
                        <a:buNone/>
                      </a:pPr>
                      <a:r>
                        <a:rPr lang="en-US" sz="1200" b="1" dirty="0">
                          <a:solidFill>
                            <a:srgbClr val="94A3B8"/>
                          </a:solidFill>
                          <a:latin typeface="Inter" pitchFamily="34" charset="0"/>
                          <a:ea typeface="Inter" pitchFamily="34" charset="-122"/>
                          <a:cs typeface="Inter" pitchFamily="34" charset="-120"/>
                        </a:rPr>
                        <a:t>best for</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prototypes, exploration</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tc>
                  <a:txBody>
                    <a:bodyPr/>
                    <a:lstStyle/>
                    <a:p>
                      <a:pPr marL="0" indent="0" algn="l">
                        <a:buNone/>
                      </a:pPr>
                      <a:r>
                        <a:rPr lang="en-US" sz="1200" dirty="0">
                          <a:solidFill>
                            <a:srgbClr val="F8FAFC"/>
                          </a:solidFill>
                          <a:latin typeface="Inter" pitchFamily="34" charset="0"/>
                          <a:ea typeface="Inter" pitchFamily="34" charset="-122"/>
                          <a:cs typeface="Inter" pitchFamily="34" charset="-120"/>
                        </a:rPr>
                        <a:t>production, teams, autonomy</a:t>
                      </a:r>
                      <a:endParaRPr lang="en-US" sz="1200" dirty="0">
                        <a:latin typeface="Inter" charset="0"/>
                        <a:ea typeface="Inter" charset="0"/>
                        <a:cs typeface="Inter" charset="0"/>
                      </a:endParaRPr>
                    </a:p>
                  </a:txBody>
                  <a:tcPr marL="54864" marR="54864" marT="54864" marB="54864" anchor="ctr">
                    <a:lnL w="12700" cap="flat" cmpd="sng" algn="ctr">
                      <a:solidFill>
                        <a:srgbClr val="0F1729"/>
                      </a:solidFill>
                      <a:prstDash val="solid"/>
                      <a:round/>
                      <a:headEnd type="none" w="med" len="med"/>
                      <a:tailEnd type="none" w="med" len="med"/>
                    </a:lnL>
                    <a:lnR w="12700" cap="flat" cmpd="sng" algn="ctr">
                      <a:solidFill>
                        <a:srgbClr val="0F1729"/>
                      </a:solidFill>
                      <a:prstDash val="solid"/>
                      <a:round/>
                      <a:headEnd type="none" w="med" len="med"/>
                      <a:tailEnd type="none" w="med" len="med"/>
                    </a:lnR>
                    <a:lnT w="12700" cap="flat" cmpd="sng" algn="ctr">
                      <a:solidFill>
                        <a:srgbClr val="0F1729"/>
                      </a:solidFill>
                      <a:prstDash val="solid"/>
                      <a:round/>
                      <a:headEnd type="none" w="med" len="med"/>
                      <a:tailEnd type="none" w="med" len="med"/>
                    </a:lnT>
                    <a:lnB w="12700" cap="flat" cmpd="sng" algn="ctr">
                      <a:solidFill>
                        <a:srgbClr val="0F1729"/>
                      </a:solidFill>
                      <a:prstDash val="solid"/>
                      <a:round/>
                      <a:headEnd type="none" w="med" len="med"/>
                      <a:tailEnd type="none" w="med" len="med"/>
                    </a:lnB>
                    <a:solidFill>
                      <a:srgbClr val="1B2640"/>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01 · the evolution</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07</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01 · THE EVOLUTION</a:t>
            </a:r>
            <a:endParaRPr lang="en-US" sz="1000" dirty="0"/>
          </a:p>
        </p:txBody>
      </p:sp>
      <p:sp>
        <p:nvSpPr>
          <p:cNvPr id="5" name="Text 3"/>
          <p:cNvSpPr/>
          <p:nvPr/>
        </p:nvSpPr>
        <p:spPr>
          <a:xfrm>
            <a:off x="457200" y="1645920"/>
            <a:ext cx="8229600" cy="1463040"/>
          </a:xfrm>
          <a:prstGeom prst="rect">
            <a:avLst/>
          </a:prstGeom>
          <a:noFill/>
          <a:ln/>
        </p:spPr>
        <p:txBody>
          <a:bodyPr wrap="square" lIns="0" tIns="0" rIns="0" bIns="0" rtlCol="0" anchor="ctr"/>
          <a:lstStyle/>
          <a:p>
            <a:pPr marL="0" indent="0">
              <a:lnSpc>
                <a:spcPct val="105000"/>
              </a:lnSpc>
              <a:buNone/>
            </a:pPr>
            <a:r>
              <a:rPr lang="en-US" sz="4000" b="1" dirty="0">
                <a:solidFill>
                  <a:srgbClr val="F8FAFC"/>
                </a:solidFill>
                <a:latin typeface="Montserrat" pitchFamily="34" charset="0"/>
                <a:ea typeface="Inter" pitchFamily="34" charset="-122"/>
                <a:cs typeface="Inter" pitchFamily="34" charset="-120"/>
              </a:rPr>
              <a:t>same models.
</a:t>
            </a:r>
            <a:r>
              <a:rPr lang="en-US" sz="4000" b="1" dirty="0">
                <a:solidFill>
                  <a:srgbClr val="3B82F6"/>
                </a:solidFill>
                <a:latin typeface="Montserrat" pitchFamily="34" charset="0"/>
                <a:ea typeface="Inter" pitchFamily="34" charset="-122"/>
                <a:cs typeface="Inter" pitchFamily="34" charset="-120"/>
              </a:rPr>
              <a:t>different system.</a:t>
            </a:r>
            <a:endParaRPr lang="en-US" sz="4000" dirty="0"/>
          </a:p>
        </p:txBody>
      </p:sp>
      <p:sp>
        <p:nvSpPr>
          <p:cNvPr id="6" name="Text 4"/>
          <p:cNvSpPr/>
          <p:nvPr/>
        </p:nvSpPr>
        <p:spPr>
          <a:xfrm>
            <a:off x="457200" y="3200400"/>
            <a:ext cx="8229600" cy="731520"/>
          </a:xfrm>
          <a:prstGeom prst="rect">
            <a:avLst/>
          </a:prstGeom>
          <a:noFill/>
          <a:ln/>
        </p:spPr>
        <p:txBody>
          <a:bodyPr wrap="square" lIns="0" tIns="0" rIns="0" bIns="0" rtlCol="0" anchor="ctr"/>
          <a:lstStyle/>
          <a:p>
            <a:pPr marL="0" indent="0">
              <a:buNone/>
            </a:pPr>
            <a:r>
              <a:rPr lang="en-US" sz="1500" dirty="0">
                <a:solidFill>
                  <a:srgbClr val="94A3B8"/>
                </a:solidFill>
                <a:latin typeface="Inter" pitchFamily="34" charset="0"/>
                <a:ea typeface="Inter" pitchFamily="34" charset="-122"/>
                <a:cs typeface="Inter" pitchFamily="34" charset="-120"/>
              </a:rPr>
              <a:t>the gap between vibe coding and vibe engineering isn't intelligence —</a:t>
            </a:r>
            <a:endParaRPr lang="en-US" sz="1500" dirty="0"/>
          </a:p>
          <a:p>
            <a:pPr marL="0" indent="0">
              <a:buNone/>
            </a:pPr>
            <a:r>
              <a:rPr lang="en-US" sz="1500" dirty="0">
                <a:solidFill>
                  <a:srgbClr val="94A3B8"/>
                </a:solidFill>
                <a:latin typeface="Inter" pitchFamily="34" charset="0"/>
                <a:ea typeface="Inter" pitchFamily="34" charset="-122"/>
                <a:cs typeface="Inter" pitchFamily="34" charset="-120"/>
              </a:rPr>
              <a:t>it's orchestration: who does what, with which rules, and when to stop</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02 · how it works</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08</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02 · HOW IT WORKS</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think of it as a team</a:t>
            </a:r>
            <a:endParaRPr lang="en-US" sz="2800" dirty="0"/>
          </a:p>
        </p:txBody>
      </p:sp>
      <p:sp>
        <p:nvSpPr>
          <p:cNvPr id="6" name="Text 4"/>
          <p:cNvSpPr/>
          <p:nvPr/>
        </p:nvSpPr>
        <p:spPr>
          <a:xfrm>
            <a:off x="457200" y="1554480"/>
            <a:ext cx="1920240" cy="365760"/>
          </a:xfrm>
          <a:prstGeom prst="rect">
            <a:avLst/>
          </a:prstGeom>
          <a:noFill/>
          <a:ln/>
        </p:spPr>
        <p:txBody>
          <a:bodyPr wrap="square" lIns="0" tIns="0" rIns="0" bIns="0" rtlCol="0" anchor="ctr"/>
          <a:lstStyle/>
          <a:p>
            <a:pPr marL="0" indent="0">
              <a:buNone/>
            </a:pPr>
            <a:r>
              <a:rPr lang="en-US" sz="1350" b="1" dirty="0">
                <a:solidFill>
                  <a:srgbClr val="3B82F6"/>
                </a:solidFill>
                <a:latin typeface="Inter" pitchFamily="34" charset="0"/>
                <a:ea typeface="Inter" pitchFamily="34" charset="-122"/>
                <a:cs typeface="Inter" pitchFamily="34" charset="-120"/>
              </a:rPr>
              <a:t>the orchestrator</a:t>
            </a:r>
            <a:endParaRPr lang="en-US" sz="1350" dirty="0"/>
          </a:p>
        </p:txBody>
      </p:sp>
      <p:sp>
        <p:nvSpPr>
          <p:cNvPr id="7" name="Text 5"/>
          <p:cNvSpPr/>
          <p:nvPr/>
        </p:nvSpPr>
        <p:spPr>
          <a:xfrm>
            <a:off x="2468880" y="1554480"/>
            <a:ext cx="2377440" cy="36576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the manager</a:t>
            </a:r>
            <a:endParaRPr lang="en-US" sz="1350" dirty="0"/>
          </a:p>
        </p:txBody>
      </p:sp>
      <p:sp>
        <p:nvSpPr>
          <p:cNvPr id="8" name="Text 6"/>
          <p:cNvSpPr/>
          <p:nvPr/>
        </p:nvSpPr>
        <p:spPr>
          <a:xfrm>
            <a:off x="4937760" y="1554480"/>
            <a:ext cx="3749040" cy="36576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decides who works on what, and when</a:t>
            </a:r>
            <a:endParaRPr lang="en-US" sz="1150" dirty="0"/>
          </a:p>
        </p:txBody>
      </p:sp>
      <p:sp>
        <p:nvSpPr>
          <p:cNvPr id="9" name="Text 7"/>
          <p:cNvSpPr/>
          <p:nvPr/>
        </p:nvSpPr>
        <p:spPr>
          <a:xfrm>
            <a:off x="457200" y="2084832"/>
            <a:ext cx="1920240" cy="365760"/>
          </a:xfrm>
          <a:prstGeom prst="rect">
            <a:avLst/>
          </a:prstGeom>
          <a:noFill/>
          <a:ln/>
        </p:spPr>
        <p:txBody>
          <a:bodyPr wrap="square" lIns="0" tIns="0" rIns="0" bIns="0" rtlCol="0" anchor="ctr"/>
          <a:lstStyle/>
          <a:p>
            <a:pPr marL="0" indent="0">
              <a:buNone/>
            </a:pPr>
            <a:r>
              <a:rPr lang="en-US" sz="1350" b="1" dirty="0">
                <a:solidFill>
                  <a:srgbClr val="3B82F6"/>
                </a:solidFill>
                <a:latin typeface="Inter" pitchFamily="34" charset="0"/>
                <a:ea typeface="Inter" pitchFamily="34" charset="-122"/>
                <a:cs typeface="Inter" pitchFamily="34" charset="-120"/>
              </a:rPr>
              <a:t>skills</a:t>
            </a:r>
            <a:endParaRPr lang="en-US" sz="1350" dirty="0"/>
          </a:p>
        </p:txBody>
      </p:sp>
      <p:sp>
        <p:nvSpPr>
          <p:cNvPr id="10" name="Text 8"/>
          <p:cNvSpPr/>
          <p:nvPr/>
        </p:nvSpPr>
        <p:spPr>
          <a:xfrm>
            <a:off x="2468880" y="2084832"/>
            <a:ext cx="2377440" cy="36576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standard procedures</a:t>
            </a:r>
            <a:endParaRPr lang="en-US" sz="1350" dirty="0"/>
          </a:p>
        </p:txBody>
      </p:sp>
      <p:sp>
        <p:nvSpPr>
          <p:cNvPr id="11" name="Text 9"/>
          <p:cNvSpPr/>
          <p:nvPr/>
        </p:nvSpPr>
        <p:spPr>
          <a:xfrm>
            <a:off x="4937760" y="2084832"/>
            <a:ext cx="3749040" cy="36576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written expertise, sitting on the shelf until needed</a:t>
            </a:r>
            <a:endParaRPr lang="en-US" sz="1150" dirty="0"/>
          </a:p>
        </p:txBody>
      </p:sp>
      <p:sp>
        <p:nvSpPr>
          <p:cNvPr id="12" name="Text 10"/>
          <p:cNvSpPr/>
          <p:nvPr/>
        </p:nvSpPr>
        <p:spPr>
          <a:xfrm>
            <a:off x="457200" y="2615184"/>
            <a:ext cx="1920240" cy="365760"/>
          </a:xfrm>
          <a:prstGeom prst="rect">
            <a:avLst/>
          </a:prstGeom>
          <a:noFill/>
          <a:ln/>
        </p:spPr>
        <p:txBody>
          <a:bodyPr wrap="square" lIns="0" tIns="0" rIns="0" bIns="0" rtlCol="0" anchor="ctr"/>
          <a:lstStyle/>
          <a:p>
            <a:pPr marL="0" indent="0">
              <a:buNone/>
            </a:pPr>
            <a:r>
              <a:rPr lang="en-US" sz="1350" b="1" dirty="0">
                <a:solidFill>
                  <a:srgbClr val="3B82F6"/>
                </a:solidFill>
                <a:latin typeface="Inter" pitchFamily="34" charset="0"/>
                <a:ea typeface="Inter" pitchFamily="34" charset="-122"/>
                <a:cs typeface="Inter" pitchFamily="34" charset="-120"/>
              </a:rPr>
              <a:t>agents</a:t>
            </a:r>
            <a:endParaRPr lang="en-US" sz="1350" dirty="0"/>
          </a:p>
        </p:txBody>
      </p:sp>
      <p:sp>
        <p:nvSpPr>
          <p:cNvPr id="13" name="Text 11"/>
          <p:cNvSpPr/>
          <p:nvPr/>
        </p:nvSpPr>
        <p:spPr>
          <a:xfrm>
            <a:off x="2468880" y="2615184"/>
            <a:ext cx="2377440" cy="36576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on-call specialists</a:t>
            </a:r>
            <a:endParaRPr lang="en-US" sz="1350" dirty="0"/>
          </a:p>
        </p:txBody>
      </p:sp>
      <p:sp>
        <p:nvSpPr>
          <p:cNvPr id="14" name="Text 12"/>
          <p:cNvSpPr/>
          <p:nvPr/>
        </p:nvSpPr>
        <p:spPr>
          <a:xfrm>
            <a:off x="4937760" y="2615184"/>
            <a:ext cx="3749040" cy="36576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spun up for a job, dismissed when it's done</a:t>
            </a:r>
            <a:endParaRPr lang="en-US" sz="1150" dirty="0"/>
          </a:p>
        </p:txBody>
      </p:sp>
      <p:sp>
        <p:nvSpPr>
          <p:cNvPr id="15" name="Text 13"/>
          <p:cNvSpPr/>
          <p:nvPr/>
        </p:nvSpPr>
        <p:spPr>
          <a:xfrm>
            <a:off x="457200" y="3145536"/>
            <a:ext cx="1920240" cy="365760"/>
          </a:xfrm>
          <a:prstGeom prst="rect">
            <a:avLst/>
          </a:prstGeom>
          <a:noFill/>
          <a:ln/>
        </p:spPr>
        <p:txBody>
          <a:bodyPr wrap="square" lIns="0" tIns="0" rIns="0" bIns="0" rtlCol="0" anchor="ctr"/>
          <a:lstStyle/>
          <a:p>
            <a:pPr marL="0" indent="0">
              <a:buNone/>
            </a:pPr>
            <a:r>
              <a:rPr lang="en-US" sz="1350" b="1" dirty="0">
                <a:solidFill>
                  <a:srgbClr val="3B82F6"/>
                </a:solidFill>
                <a:latin typeface="Inter" pitchFamily="34" charset="0"/>
                <a:ea typeface="Inter" pitchFamily="34" charset="-122"/>
                <a:cs typeface="Inter" pitchFamily="34" charset="-120"/>
              </a:rPr>
              <a:t>CLAUDE.md</a:t>
            </a:r>
            <a:endParaRPr lang="en-US" sz="1350" dirty="0"/>
          </a:p>
        </p:txBody>
      </p:sp>
      <p:sp>
        <p:nvSpPr>
          <p:cNvPr id="16" name="Text 14"/>
          <p:cNvSpPr/>
          <p:nvPr/>
        </p:nvSpPr>
        <p:spPr>
          <a:xfrm>
            <a:off x="2468880" y="3145536"/>
            <a:ext cx="2377440" cy="36576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the employee handbook</a:t>
            </a:r>
            <a:endParaRPr lang="en-US" sz="1350" dirty="0"/>
          </a:p>
        </p:txBody>
      </p:sp>
      <p:sp>
        <p:nvSpPr>
          <p:cNvPr id="17" name="Text 15"/>
          <p:cNvSpPr/>
          <p:nvPr/>
        </p:nvSpPr>
        <p:spPr>
          <a:xfrm>
            <a:off x="4937760" y="3145536"/>
            <a:ext cx="3749040" cy="36576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house rules every worker reads on day one</a:t>
            </a:r>
            <a:endParaRPr lang="en-US" sz="1150" dirty="0"/>
          </a:p>
        </p:txBody>
      </p:sp>
      <p:sp>
        <p:nvSpPr>
          <p:cNvPr id="18" name="Text 16"/>
          <p:cNvSpPr/>
          <p:nvPr/>
        </p:nvSpPr>
        <p:spPr>
          <a:xfrm>
            <a:off x="457200" y="3675888"/>
            <a:ext cx="1920240" cy="365760"/>
          </a:xfrm>
          <a:prstGeom prst="rect">
            <a:avLst/>
          </a:prstGeom>
          <a:noFill/>
          <a:ln/>
        </p:spPr>
        <p:txBody>
          <a:bodyPr wrap="square" lIns="0" tIns="0" rIns="0" bIns="0" rtlCol="0" anchor="ctr"/>
          <a:lstStyle/>
          <a:p>
            <a:pPr marL="0" indent="0">
              <a:buNone/>
            </a:pPr>
            <a:r>
              <a:rPr lang="en-US" sz="1350" b="1" dirty="0">
                <a:solidFill>
                  <a:srgbClr val="3B82F6"/>
                </a:solidFill>
                <a:latin typeface="Inter" pitchFamily="34" charset="0"/>
                <a:ea typeface="Inter" pitchFamily="34" charset="-122"/>
                <a:cs typeface="Inter" pitchFamily="34" charset="-120"/>
              </a:rPr>
              <a:t>gates</a:t>
            </a:r>
            <a:endParaRPr lang="en-US" sz="1350" dirty="0"/>
          </a:p>
        </p:txBody>
      </p:sp>
      <p:sp>
        <p:nvSpPr>
          <p:cNvPr id="19" name="Text 17"/>
          <p:cNvSpPr/>
          <p:nvPr/>
        </p:nvSpPr>
        <p:spPr>
          <a:xfrm>
            <a:off x="2468880" y="3675888"/>
            <a:ext cx="2377440" cy="36576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quality control</a:t>
            </a:r>
            <a:endParaRPr lang="en-US" sz="1350" dirty="0"/>
          </a:p>
        </p:txBody>
      </p:sp>
      <p:sp>
        <p:nvSpPr>
          <p:cNvPr id="20" name="Text 18"/>
          <p:cNvSpPr/>
          <p:nvPr/>
        </p:nvSpPr>
        <p:spPr>
          <a:xfrm>
            <a:off x="4937760" y="3675888"/>
            <a:ext cx="3749040" cy="36576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nothing ships until every check passes</a:t>
            </a:r>
            <a:endParaRPr lang="en-US" sz="1150" dirty="0"/>
          </a:p>
        </p:txBody>
      </p:sp>
      <p:sp>
        <p:nvSpPr>
          <p:cNvPr id="21" name="Text 19"/>
          <p:cNvSpPr/>
          <p:nvPr/>
        </p:nvSpPr>
        <p:spPr>
          <a:xfrm>
            <a:off x="457200" y="4343400"/>
            <a:ext cx="8229600" cy="320040"/>
          </a:xfrm>
          <a:prstGeom prst="rect">
            <a:avLst/>
          </a:prstGeom>
          <a:noFill/>
          <a:ln/>
        </p:spPr>
        <p:txBody>
          <a:bodyPr wrap="square" lIns="0" tIns="0" rIns="0" bIns="0" rtlCol="0" anchor="ctr"/>
          <a:lstStyle/>
          <a:p>
            <a:pPr marL="0" indent="0">
              <a:buNone/>
            </a:pPr>
            <a:r>
              <a:rPr lang="en-US" sz="1300" i="1" dirty="0">
                <a:solidFill>
                  <a:srgbClr val="3B82F6"/>
                </a:solidFill>
                <a:latin typeface="Inter" pitchFamily="34" charset="0"/>
                <a:ea typeface="Inter" pitchFamily="34" charset="-122"/>
                <a:cs typeface="Inter" pitchFamily="34" charset="-120"/>
              </a:rPr>
              <a:t>if you can run a team, you already understand multi-agent systems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02 · how it works</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09</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02 · HOW IT WORKS</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a skill is a contract, not a prompt</a:t>
            </a:r>
            <a:endParaRPr lang="en-US" sz="2800" dirty="0"/>
          </a:p>
        </p:txBody>
      </p:sp>
      <p:sp>
        <p:nvSpPr>
          <p:cNvPr id="6" name="Shape 4"/>
          <p:cNvSpPr/>
          <p:nvPr/>
        </p:nvSpPr>
        <p:spPr>
          <a:xfrm>
            <a:off x="457200" y="1508760"/>
            <a:ext cx="4297680" cy="2331720"/>
          </a:xfrm>
          <a:prstGeom prst="roundRect">
            <a:avLst>
              <a:gd name="adj" fmla="val 2353"/>
            </a:avLst>
          </a:prstGeom>
          <a:solidFill>
            <a:srgbClr val="0A101F"/>
          </a:solidFill>
          <a:ln/>
        </p:spPr>
        <p:txBody>
          <a:bodyPr/>
          <a:lstStyle/>
          <a:p>
            <a:endParaRPr/>
          </a:p>
        </p:txBody>
      </p:sp>
      <p:sp>
        <p:nvSpPr>
          <p:cNvPr id="7" name="Text 5"/>
          <p:cNvSpPr/>
          <p:nvPr/>
        </p:nvSpPr>
        <p:spPr>
          <a:xfrm>
            <a:off x="640080" y="1645920"/>
            <a:ext cx="4023360" cy="2103120"/>
          </a:xfrm>
          <a:prstGeom prst="rect">
            <a:avLst/>
          </a:prstGeom>
          <a:noFill/>
          <a:ln/>
        </p:spPr>
        <p:txBody>
          <a:bodyPr wrap="square" lIns="0" tIns="0" rIns="0" bIns="0" rtlCol="0" anchor="ctr"/>
          <a:lstStyle/>
          <a:p>
            <a:pPr marL="0" indent="0">
              <a:lnSpc>
                <a:spcPct val="115000"/>
              </a:lnSpc>
              <a:buNone/>
            </a:pPr>
            <a:r>
              <a:rPr lang="en-US" sz="1050" dirty="0">
                <a:solidFill>
                  <a:srgbClr val="34D399"/>
                </a:solidFill>
                <a:latin typeface="Menlo" pitchFamily="34" charset="0"/>
                <a:ea typeface="Menlo" pitchFamily="34" charset="-122"/>
                <a:cs typeface="Menlo" pitchFamily="34" charset="-120"/>
              </a:rPr>
              <a:t>---</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name: audit-security</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scope: scan changed code</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  for S1-S8 security violations</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tools: Read, Grep, Glob</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context: read-only, isolated</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stopping: report only, never</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  fixes; hands back to caller</a:t>
            </a:r>
            <a:endParaRPr lang="en-US" sz="1050" dirty="0"/>
          </a:p>
          <a:p>
            <a:pPr marL="0" indent="0">
              <a:lnSpc>
                <a:spcPct val="115000"/>
              </a:lnSpc>
              <a:buNone/>
            </a:pPr>
            <a:r>
              <a:rPr lang="en-US" sz="1050" dirty="0">
                <a:solidFill>
                  <a:srgbClr val="34D399"/>
                </a:solidFill>
                <a:latin typeface="Menlo" pitchFamily="34" charset="0"/>
                <a:ea typeface="Menlo" pitchFamily="34" charset="-122"/>
                <a:cs typeface="Menlo" pitchFamily="34" charset="-120"/>
              </a:rPr>
              <a:t>---</a:t>
            </a:r>
            <a:endParaRPr lang="en-US" sz="1050" dirty="0"/>
          </a:p>
        </p:txBody>
      </p:sp>
      <p:sp>
        <p:nvSpPr>
          <p:cNvPr id="8" name="Text 6"/>
          <p:cNvSpPr/>
          <p:nvPr/>
        </p:nvSpPr>
        <p:spPr>
          <a:xfrm>
            <a:off x="5120640" y="1600200"/>
            <a:ext cx="1371600" cy="320040"/>
          </a:xfrm>
          <a:prstGeom prst="rect">
            <a:avLst/>
          </a:prstGeom>
          <a:noFill/>
          <a:ln/>
        </p:spPr>
        <p:txBody>
          <a:bodyPr wrap="square" lIns="0" tIns="0" rIns="0" bIns="0" rtlCol="0" anchor="ctr"/>
          <a:lstStyle/>
          <a:p>
            <a:pPr marL="0" indent="0">
              <a:buNone/>
            </a:pPr>
            <a:r>
              <a:rPr lang="en-US" sz="1300" b="1" dirty="0">
                <a:solidFill>
                  <a:srgbClr val="F8FAFC"/>
                </a:solidFill>
                <a:latin typeface="Inter" pitchFamily="34" charset="0"/>
                <a:ea typeface="Inter" pitchFamily="34" charset="-122"/>
                <a:cs typeface="Inter" pitchFamily="34" charset="-120"/>
              </a:rPr>
              <a:t>name</a:t>
            </a:r>
            <a:endParaRPr lang="en-US" sz="1300" dirty="0"/>
          </a:p>
        </p:txBody>
      </p:sp>
      <p:sp>
        <p:nvSpPr>
          <p:cNvPr id="9" name="Text 7"/>
          <p:cNvSpPr/>
          <p:nvPr/>
        </p:nvSpPr>
        <p:spPr>
          <a:xfrm>
            <a:off x="6583680" y="1600200"/>
            <a:ext cx="2103120" cy="32004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what it's called</a:t>
            </a:r>
            <a:endParaRPr lang="en-US" sz="1150" dirty="0"/>
          </a:p>
        </p:txBody>
      </p:sp>
      <p:sp>
        <p:nvSpPr>
          <p:cNvPr id="10" name="Text 8"/>
          <p:cNvSpPr/>
          <p:nvPr/>
        </p:nvSpPr>
        <p:spPr>
          <a:xfrm>
            <a:off x="5120640" y="2039112"/>
            <a:ext cx="1371600" cy="320040"/>
          </a:xfrm>
          <a:prstGeom prst="rect">
            <a:avLst/>
          </a:prstGeom>
          <a:noFill/>
          <a:ln/>
        </p:spPr>
        <p:txBody>
          <a:bodyPr wrap="square" lIns="0" tIns="0" rIns="0" bIns="0" rtlCol="0" anchor="ctr"/>
          <a:lstStyle/>
          <a:p>
            <a:pPr marL="0" indent="0">
              <a:buNone/>
            </a:pPr>
            <a:r>
              <a:rPr lang="en-US" sz="1300" b="1" dirty="0">
                <a:solidFill>
                  <a:srgbClr val="F8FAFC"/>
                </a:solidFill>
                <a:latin typeface="Inter" pitchFamily="34" charset="0"/>
                <a:ea typeface="Inter" pitchFamily="34" charset="-122"/>
                <a:cs typeface="Inter" pitchFamily="34" charset="-120"/>
              </a:rPr>
              <a:t>scope</a:t>
            </a:r>
            <a:endParaRPr lang="en-US" sz="1300" dirty="0"/>
          </a:p>
        </p:txBody>
      </p:sp>
      <p:sp>
        <p:nvSpPr>
          <p:cNvPr id="11" name="Text 9"/>
          <p:cNvSpPr/>
          <p:nvPr/>
        </p:nvSpPr>
        <p:spPr>
          <a:xfrm>
            <a:off x="6583680" y="2039112"/>
            <a:ext cx="2103120" cy="32004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what it can do</a:t>
            </a:r>
            <a:endParaRPr lang="en-US" sz="1150" dirty="0"/>
          </a:p>
        </p:txBody>
      </p:sp>
      <p:sp>
        <p:nvSpPr>
          <p:cNvPr id="12" name="Text 10"/>
          <p:cNvSpPr/>
          <p:nvPr/>
        </p:nvSpPr>
        <p:spPr>
          <a:xfrm>
            <a:off x="5120640" y="2478024"/>
            <a:ext cx="1371600" cy="320040"/>
          </a:xfrm>
          <a:prstGeom prst="rect">
            <a:avLst/>
          </a:prstGeom>
          <a:noFill/>
          <a:ln/>
        </p:spPr>
        <p:txBody>
          <a:bodyPr wrap="square" lIns="0" tIns="0" rIns="0" bIns="0" rtlCol="0" anchor="ctr"/>
          <a:lstStyle/>
          <a:p>
            <a:pPr marL="0" indent="0">
              <a:buNone/>
            </a:pPr>
            <a:r>
              <a:rPr lang="en-US" sz="1300" b="1" dirty="0">
                <a:solidFill>
                  <a:srgbClr val="F8FAFC"/>
                </a:solidFill>
                <a:latin typeface="Inter" pitchFamily="34" charset="0"/>
                <a:ea typeface="Inter" pitchFamily="34" charset="-122"/>
                <a:cs typeface="Inter" pitchFamily="34" charset="-120"/>
              </a:rPr>
              <a:t>tools</a:t>
            </a:r>
            <a:endParaRPr lang="en-US" sz="1300" dirty="0"/>
          </a:p>
        </p:txBody>
      </p:sp>
      <p:sp>
        <p:nvSpPr>
          <p:cNvPr id="13" name="Text 11"/>
          <p:cNvSpPr/>
          <p:nvPr/>
        </p:nvSpPr>
        <p:spPr>
          <a:xfrm>
            <a:off x="6583680" y="2478024"/>
            <a:ext cx="2103120" cy="32004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what it can touch</a:t>
            </a:r>
            <a:endParaRPr lang="en-US" sz="1150" dirty="0"/>
          </a:p>
        </p:txBody>
      </p:sp>
      <p:sp>
        <p:nvSpPr>
          <p:cNvPr id="14" name="Text 12"/>
          <p:cNvSpPr/>
          <p:nvPr/>
        </p:nvSpPr>
        <p:spPr>
          <a:xfrm>
            <a:off x="5120640" y="2916936"/>
            <a:ext cx="1371600" cy="320040"/>
          </a:xfrm>
          <a:prstGeom prst="rect">
            <a:avLst/>
          </a:prstGeom>
          <a:noFill/>
          <a:ln/>
        </p:spPr>
        <p:txBody>
          <a:bodyPr wrap="square" lIns="0" tIns="0" rIns="0" bIns="0" rtlCol="0" anchor="ctr"/>
          <a:lstStyle/>
          <a:p>
            <a:pPr marL="0" indent="0">
              <a:buNone/>
            </a:pPr>
            <a:r>
              <a:rPr lang="en-US" sz="1300" b="1" dirty="0">
                <a:solidFill>
                  <a:srgbClr val="F8FAFC"/>
                </a:solidFill>
                <a:latin typeface="Inter" pitchFamily="34" charset="0"/>
                <a:ea typeface="Inter" pitchFamily="34" charset="-122"/>
                <a:cs typeface="Inter" pitchFamily="34" charset="-120"/>
              </a:rPr>
              <a:t>context</a:t>
            </a:r>
            <a:endParaRPr lang="en-US" sz="1300" dirty="0"/>
          </a:p>
        </p:txBody>
      </p:sp>
      <p:sp>
        <p:nvSpPr>
          <p:cNvPr id="15" name="Text 13"/>
          <p:cNvSpPr/>
          <p:nvPr/>
        </p:nvSpPr>
        <p:spPr>
          <a:xfrm>
            <a:off x="6583680" y="2916936"/>
            <a:ext cx="2103120" cy="32004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isolated or shared</a:t>
            </a:r>
            <a:endParaRPr lang="en-US" sz="1150" dirty="0"/>
          </a:p>
        </p:txBody>
      </p:sp>
      <p:sp>
        <p:nvSpPr>
          <p:cNvPr id="16" name="Text 14"/>
          <p:cNvSpPr/>
          <p:nvPr/>
        </p:nvSpPr>
        <p:spPr>
          <a:xfrm>
            <a:off x="5120640" y="3355848"/>
            <a:ext cx="1371600" cy="320040"/>
          </a:xfrm>
          <a:prstGeom prst="rect">
            <a:avLst/>
          </a:prstGeom>
          <a:noFill/>
          <a:ln/>
        </p:spPr>
        <p:txBody>
          <a:bodyPr wrap="square" lIns="0" tIns="0" rIns="0" bIns="0" rtlCol="0" anchor="ctr"/>
          <a:lstStyle/>
          <a:p>
            <a:pPr marL="0" indent="0">
              <a:buNone/>
            </a:pPr>
            <a:r>
              <a:rPr lang="en-US" sz="1300" b="1" dirty="0">
                <a:solidFill>
                  <a:srgbClr val="F8FAFC"/>
                </a:solidFill>
                <a:latin typeface="Inter" pitchFamily="34" charset="0"/>
                <a:ea typeface="Inter" pitchFamily="34" charset="-122"/>
                <a:cs typeface="Inter" pitchFamily="34" charset="-120"/>
              </a:rPr>
              <a:t>stopping</a:t>
            </a:r>
            <a:endParaRPr lang="en-US" sz="1300" dirty="0"/>
          </a:p>
        </p:txBody>
      </p:sp>
      <p:sp>
        <p:nvSpPr>
          <p:cNvPr id="17" name="Text 15"/>
          <p:cNvSpPr/>
          <p:nvPr/>
        </p:nvSpPr>
        <p:spPr>
          <a:xfrm>
            <a:off x="6583680" y="3355848"/>
            <a:ext cx="2103120" cy="320040"/>
          </a:xfrm>
          <a:prstGeom prst="rect">
            <a:avLst/>
          </a:prstGeom>
          <a:noFill/>
          <a:ln/>
        </p:spPr>
        <p:txBody>
          <a:bodyPr wrap="square" lIns="0" tIns="0" rIns="0" bIns="0" rtlCol="0" anchor="ctr"/>
          <a:lstStyle/>
          <a:p>
            <a:pPr marL="0" indent="0">
              <a:buNone/>
            </a:pPr>
            <a:r>
              <a:rPr lang="en-US" sz="1150" dirty="0">
                <a:solidFill>
                  <a:srgbClr val="94A3B8"/>
                </a:solidFill>
                <a:latin typeface="Inter" pitchFamily="34" charset="0"/>
                <a:ea typeface="Inter" pitchFamily="34" charset="-122"/>
                <a:cs typeface="Inter" pitchFamily="34" charset="-120"/>
              </a:rPr>
              <a:t>when it must yield</a:t>
            </a:r>
            <a:endParaRPr lang="en-US" sz="1150" dirty="0"/>
          </a:p>
        </p:txBody>
      </p:sp>
      <p:sp>
        <p:nvSpPr>
          <p:cNvPr id="18" name="Text 16"/>
          <p:cNvSpPr/>
          <p:nvPr/>
        </p:nvSpPr>
        <p:spPr>
          <a:xfrm>
            <a:off x="457200" y="4206240"/>
            <a:ext cx="8229600" cy="320040"/>
          </a:xfrm>
          <a:prstGeom prst="rect">
            <a:avLst/>
          </a:prstGeom>
          <a:noFill/>
          <a:ln/>
        </p:spPr>
        <p:txBody>
          <a:bodyPr wrap="square" lIns="0" tIns="0" rIns="0" bIns="0" rtlCol="0" anchor="ctr"/>
          <a:lstStyle/>
          <a:p>
            <a:pPr marL="0" indent="0">
              <a:buNone/>
            </a:pPr>
            <a:r>
              <a:rPr lang="en-US" sz="1300" i="1" dirty="0">
                <a:solidFill>
                  <a:srgbClr val="3B82F6"/>
                </a:solidFill>
                <a:latin typeface="Inter" pitchFamily="34" charset="0"/>
                <a:ea typeface="Inter" pitchFamily="34" charset="-122"/>
                <a:cs typeface="Inter" pitchFamily="34" charset="-120"/>
              </a:rPr>
              <a:t>today's clever prompt is tomorrow's deployed skill — written once, reused forever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02 · how it works</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10</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02 · HOW IT WORKS</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always-on vs on-demand</a:t>
            </a:r>
            <a:endParaRPr lang="en-US" sz="2800" dirty="0"/>
          </a:p>
        </p:txBody>
      </p:sp>
      <p:sp>
        <p:nvSpPr>
          <p:cNvPr id="6" name="Shape 4"/>
          <p:cNvSpPr/>
          <p:nvPr/>
        </p:nvSpPr>
        <p:spPr>
          <a:xfrm>
            <a:off x="457200" y="1508760"/>
            <a:ext cx="4023360" cy="2514600"/>
          </a:xfrm>
          <a:prstGeom prst="roundRect">
            <a:avLst>
              <a:gd name="adj" fmla="val 2545"/>
            </a:avLst>
          </a:prstGeom>
          <a:solidFill>
            <a:srgbClr val="1B2640"/>
          </a:solidFill>
          <a:ln/>
        </p:spPr>
        <p:txBody>
          <a:bodyPr/>
          <a:lstStyle/>
          <a:p>
            <a:endParaRPr/>
          </a:p>
        </p:txBody>
      </p:sp>
      <p:sp>
        <p:nvSpPr>
          <p:cNvPr id="7" name="Text 5"/>
          <p:cNvSpPr/>
          <p:nvPr/>
        </p:nvSpPr>
        <p:spPr>
          <a:xfrm>
            <a:off x="685800" y="1691640"/>
            <a:ext cx="3566160" cy="274320"/>
          </a:xfrm>
          <a:prstGeom prst="rect">
            <a:avLst/>
          </a:prstGeom>
          <a:noFill/>
          <a:ln/>
        </p:spPr>
        <p:txBody>
          <a:bodyPr wrap="square" lIns="0" tIns="0" rIns="0" bIns="0" rtlCol="0" anchor="ctr"/>
          <a:lstStyle/>
          <a:p>
            <a:pPr marL="0" indent="0">
              <a:buNone/>
            </a:pPr>
            <a:r>
              <a:rPr lang="en-US" sz="1100" b="1" kern="0" spc="200" dirty="0">
                <a:solidFill>
                  <a:srgbClr val="F87171"/>
                </a:solidFill>
                <a:latin typeface="Inter" pitchFamily="34" charset="0"/>
                <a:ea typeface="Inter" pitchFamily="34" charset="-122"/>
                <a:cs typeface="Inter" pitchFamily="34" charset="-120"/>
              </a:rPr>
              <a:t>AN AGENT ALWAYS RUNNING</a:t>
            </a:r>
            <a:endParaRPr lang="en-US" sz="1100" dirty="0"/>
          </a:p>
        </p:txBody>
      </p:sp>
      <p:sp>
        <p:nvSpPr>
          <p:cNvPr id="8" name="Text 6"/>
          <p:cNvSpPr/>
          <p:nvPr/>
        </p:nvSpPr>
        <p:spPr>
          <a:xfrm>
            <a:off x="685800" y="2057400"/>
            <a:ext cx="3611880" cy="1463040"/>
          </a:xfrm>
          <a:prstGeom prst="rect">
            <a:avLst/>
          </a:prstGeom>
          <a:noFill/>
          <a:ln/>
        </p:spPr>
        <p:txBody>
          <a:bodyPr wrap="square" lIns="0" tIns="0" rIns="0" bIns="0" rtlCol="0" anchor="ctr"/>
          <a:lstStyle/>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burns tokens while idle</a:t>
            </a:r>
            <a:endParaRPr lang="en-US" sz="1200" dirty="0"/>
          </a:p>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context fills with noise over time</a:t>
            </a:r>
            <a:endParaRPr lang="en-US" sz="1200" dirty="0"/>
          </a:p>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one giant brain, drifting focus</a:t>
            </a:r>
            <a:endParaRPr lang="en-US" sz="1200" dirty="0"/>
          </a:p>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you pay for presence, not work</a:t>
            </a:r>
            <a:endParaRPr lang="en-US" sz="1200" dirty="0"/>
          </a:p>
        </p:txBody>
      </p:sp>
      <p:sp>
        <p:nvSpPr>
          <p:cNvPr id="9" name="Text 7"/>
          <p:cNvSpPr/>
          <p:nvPr/>
        </p:nvSpPr>
        <p:spPr>
          <a:xfrm>
            <a:off x="685800" y="3611880"/>
            <a:ext cx="3611880" cy="320040"/>
          </a:xfrm>
          <a:prstGeom prst="rect">
            <a:avLst/>
          </a:prstGeom>
          <a:noFill/>
          <a:ln/>
        </p:spPr>
        <p:txBody>
          <a:bodyPr wrap="square" lIns="0" tIns="0" rIns="0" bIns="0" rtlCol="0" anchor="ctr"/>
          <a:lstStyle/>
          <a:p>
            <a:pPr marL="0" indent="0">
              <a:buNone/>
            </a:pPr>
            <a:r>
              <a:rPr lang="en-US" sz="1150" i="1" dirty="0">
                <a:solidFill>
                  <a:srgbClr val="F87171"/>
                </a:solidFill>
                <a:latin typeface="Inter" pitchFamily="34" charset="0"/>
                <a:ea typeface="Inter" pitchFamily="34" charset="-122"/>
                <a:cs typeface="Inter" pitchFamily="34" charset="-120"/>
              </a:rPr>
              <a:t>staff on the payroll, waiting</a:t>
            </a:r>
            <a:endParaRPr lang="en-US" sz="1150" dirty="0"/>
          </a:p>
        </p:txBody>
      </p:sp>
      <p:sp>
        <p:nvSpPr>
          <p:cNvPr id="10" name="Shape 8"/>
          <p:cNvSpPr/>
          <p:nvPr/>
        </p:nvSpPr>
        <p:spPr>
          <a:xfrm>
            <a:off x="4663440" y="1508760"/>
            <a:ext cx="4023360" cy="2514600"/>
          </a:xfrm>
          <a:prstGeom prst="roundRect">
            <a:avLst>
              <a:gd name="adj" fmla="val 2545"/>
            </a:avLst>
          </a:prstGeom>
          <a:solidFill>
            <a:srgbClr val="1B2640"/>
          </a:solidFill>
          <a:ln/>
        </p:spPr>
        <p:txBody>
          <a:bodyPr/>
          <a:lstStyle/>
          <a:p>
            <a:endParaRPr/>
          </a:p>
        </p:txBody>
      </p:sp>
      <p:sp>
        <p:nvSpPr>
          <p:cNvPr id="11" name="Text 9"/>
          <p:cNvSpPr/>
          <p:nvPr/>
        </p:nvSpPr>
        <p:spPr>
          <a:xfrm>
            <a:off x="4892040" y="1691640"/>
            <a:ext cx="3566160" cy="274320"/>
          </a:xfrm>
          <a:prstGeom prst="rect">
            <a:avLst/>
          </a:prstGeom>
          <a:noFill/>
          <a:ln/>
        </p:spPr>
        <p:txBody>
          <a:bodyPr wrap="square" lIns="0" tIns="0" rIns="0" bIns="0" rtlCol="0" anchor="ctr"/>
          <a:lstStyle/>
          <a:p>
            <a:pPr marL="0" indent="0">
              <a:buNone/>
            </a:pPr>
            <a:r>
              <a:rPr lang="en-US" sz="1100" b="1" kern="0" spc="200" dirty="0">
                <a:solidFill>
                  <a:srgbClr val="34D399"/>
                </a:solidFill>
                <a:latin typeface="Inter" pitchFamily="34" charset="0"/>
                <a:ea typeface="Inter" pitchFamily="34" charset="-122"/>
                <a:cs typeface="Inter" pitchFamily="34" charset="-120"/>
              </a:rPr>
              <a:t>SKILLS + AGENTS ON DEMAND</a:t>
            </a:r>
            <a:endParaRPr lang="en-US" sz="1100" dirty="0"/>
          </a:p>
        </p:txBody>
      </p:sp>
      <p:sp>
        <p:nvSpPr>
          <p:cNvPr id="12" name="Text 10"/>
          <p:cNvSpPr/>
          <p:nvPr/>
        </p:nvSpPr>
        <p:spPr>
          <a:xfrm>
            <a:off x="4892040" y="2057400"/>
            <a:ext cx="3611880" cy="1463040"/>
          </a:xfrm>
          <a:prstGeom prst="rect">
            <a:avLst/>
          </a:prstGeom>
          <a:noFill/>
          <a:ln/>
        </p:spPr>
        <p:txBody>
          <a:bodyPr wrap="square" lIns="0" tIns="0" rIns="0" bIns="0" rtlCol="0" anchor="ctr"/>
          <a:lstStyle/>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a dormant skill costs ~0 tokens</a:t>
            </a:r>
            <a:endParaRPr lang="en-US" sz="1200" dirty="0"/>
          </a:p>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loaded only when invoked</a:t>
            </a:r>
            <a:endParaRPr lang="en-US" sz="1200" dirty="0"/>
          </a:p>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fresh, focused context per job</a:t>
            </a:r>
            <a:endParaRPr lang="en-US" sz="1200" dirty="0"/>
          </a:p>
          <a:p>
            <a:pPr marL="127000" indent="-127000">
              <a:spcAft>
                <a:spcPts val="700"/>
              </a:spcAft>
              <a:buSzPct val="100000"/>
              <a:buChar char="•"/>
            </a:pPr>
            <a:r>
              <a:rPr lang="en-US" sz="1200" dirty="0">
                <a:solidFill>
                  <a:srgbClr val="F8FAFC"/>
                </a:solidFill>
                <a:latin typeface="Inter" pitchFamily="34" charset="0"/>
                <a:ea typeface="Inter" pitchFamily="34" charset="-122"/>
                <a:cs typeface="Inter" pitchFamily="34" charset="-120"/>
              </a:rPr>
              <a:t>you pay per task completed</a:t>
            </a:r>
            <a:endParaRPr lang="en-US" sz="1200" dirty="0"/>
          </a:p>
        </p:txBody>
      </p:sp>
      <p:sp>
        <p:nvSpPr>
          <p:cNvPr id="13" name="Text 11"/>
          <p:cNvSpPr/>
          <p:nvPr/>
        </p:nvSpPr>
        <p:spPr>
          <a:xfrm>
            <a:off x="4892040" y="3611880"/>
            <a:ext cx="3611880" cy="320040"/>
          </a:xfrm>
          <a:prstGeom prst="rect">
            <a:avLst/>
          </a:prstGeom>
          <a:noFill/>
          <a:ln/>
        </p:spPr>
        <p:txBody>
          <a:bodyPr wrap="square" lIns="0" tIns="0" rIns="0" bIns="0" rtlCol="0" anchor="ctr"/>
          <a:lstStyle/>
          <a:p>
            <a:pPr marL="0" indent="0">
              <a:buNone/>
            </a:pPr>
            <a:r>
              <a:rPr lang="en-US" sz="1150" i="1" dirty="0">
                <a:solidFill>
                  <a:srgbClr val="34D399"/>
                </a:solidFill>
                <a:latin typeface="Inter" pitchFamily="34" charset="0"/>
                <a:ea typeface="Inter" pitchFamily="34" charset="-122"/>
                <a:cs typeface="Inter" pitchFamily="34" charset="-120"/>
              </a:rPr>
              <a:t>expertise on the shelf, ready</a:t>
            </a:r>
            <a:endParaRPr lang="en-US" sz="1150" dirty="0"/>
          </a:p>
        </p:txBody>
      </p:sp>
      <p:sp>
        <p:nvSpPr>
          <p:cNvPr id="14" name="Text 12"/>
          <p:cNvSpPr/>
          <p:nvPr/>
        </p:nvSpPr>
        <p:spPr>
          <a:xfrm>
            <a:off x="457200" y="4297680"/>
            <a:ext cx="8229600" cy="320040"/>
          </a:xfrm>
          <a:prstGeom prst="rect">
            <a:avLst/>
          </a:prstGeom>
          <a:noFill/>
          <a:ln/>
        </p:spPr>
        <p:txBody>
          <a:bodyPr wrap="square" lIns="0" tIns="0" rIns="0" bIns="0" rtlCol="0" anchor="ctr"/>
          <a:lstStyle/>
          <a:p>
            <a:pPr marL="0" indent="0" algn="ctr">
              <a:buNone/>
            </a:pPr>
            <a:r>
              <a:rPr lang="en-US" sz="1350" b="1" i="1" dirty="0">
                <a:solidFill>
                  <a:srgbClr val="3B82F6"/>
                </a:solidFill>
                <a:latin typeface="Inter" pitchFamily="34" charset="0"/>
                <a:ea typeface="Inter" pitchFamily="34" charset="-122"/>
                <a:cs typeface="Inter" pitchFamily="34" charset="-120"/>
              </a:rPr>
              <a:t>encode the human knowledge in skills · spin up the agent only when there's work</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02 · how it works</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11</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02 · HOW IT WORKS</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the loop</a:t>
            </a:r>
            <a:endParaRPr lang="en-US" sz="2800" dirty="0"/>
          </a:p>
        </p:txBody>
      </p:sp>
      <p:sp>
        <p:nvSpPr>
          <p:cNvPr id="6" name="Shape 4"/>
          <p:cNvSpPr/>
          <p:nvPr/>
        </p:nvSpPr>
        <p:spPr>
          <a:xfrm>
            <a:off x="457200" y="2103120"/>
            <a:ext cx="932688" cy="502920"/>
          </a:xfrm>
          <a:prstGeom prst="roundRect">
            <a:avLst>
              <a:gd name="adj" fmla="val 9091"/>
            </a:avLst>
          </a:prstGeom>
          <a:solidFill>
            <a:srgbClr val="1B2640"/>
          </a:solidFill>
          <a:ln w="9525">
            <a:solidFill>
              <a:srgbClr val="64748B"/>
            </a:solidFill>
            <a:prstDash val="solid"/>
          </a:ln>
        </p:spPr>
        <p:txBody>
          <a:bodyPr/>
          <a:lstStyle/>
          <a:p>
            <a:endParaRPr/>
          </a:p>
        </p:txBody>
      </p:sp>
      <p:sp>
        <p:nvSpPr>
          <p:cNvPr id="7" name="Text 5"/>
          <p:cNvSpPr/>
          <p:nvPr/>
        </p:nvSpPr>
        <p:spPr>
          <a:xfrm>
            <a:off x="457200" y="2103120"/>
            <a:ext cx="932688" cy="502920"/>
          </a:xfrm>
          <a:prstGeom prst="rect">
            <a:avLst/>
          </a:prstGeom>
          <a:noFill/>
          <a:ln/>
        </p:spPr>
        <p:txBody>
          <a:bodyPr wrap="square" lIns="0" tIns="0" rIns="0" bIns="0" rtlCol="0" anchor="ctr"/>
          <a:lstStyle/>
          <a:p>
            <a:pPr marL="0" indent="0" algn="ctr">
              <a:buNone/>
            </a:pPr>
            <a:r>
              <a:rPr lang="en-US" sz="1100" b="1" dirty="0">
                <a:solidFill>
                  <a:srgbClr val="F8FAFC"/>
                </a:solidFill>
                <a:latin typeface="Inter" pitchFamily="34" charset="0"/>
                <a:ea typeface="Inter" pitchFamily="34" charset="-122"/>
                <a:cs typeface="Inter" pitchFamily="34" charset="-120"/>
              </a:rPr>
              <a:t>plan</a:t>
            </a:r>
            <a:endParaRPr lang="en-US" sz="1100" dirty="0"/>
          </a:p>
        </p:txBody>
      </p:sp>
      <p:sp>
        <p:nvSpPr>
          <p:cNvPr id="8" name="Text 6"/>
          <p:cNvSpPr/>
          <p:nvPr/>
        </p:nvSpPr>
        <p:spPr>
          <a:xfrm>
            <a:off x="1371600" y="2103120"/>
            <a:ext cx="164592" cy="502920"/>
          </a:xfrm>
          <a:prstGeom prst="rect">
            <a:avLst/>
          </a:prstGeom>
          <a:noFill/>
          <a:ln/>
        </p:spPr>
        <p:txBody>
          <a:bodyPr wrap="square" lIns="0" tIns="0" rIns="0" bIns="0" rtlCol="0" anchor="ctr"/>
          <a:lstStyle/>
          <a:p>
            <a:pPr marL="0" indent="0" algn="ctr">
              <a:buNone/>
            </a:pPr>
            <a:r>
              <a:rPr lang="en-US" sz="1000" dirty="0">
                <a:solidFill>
                  <a:srgbClr val="3B82F6"/>
                </a:solidFill>
                <a:latin typeface="Inter" pitchFamily="34" charset="0"/>
                <a:ea typeface="Inter" pitchFamily="34" charset="-122"/>
                <a:cs typeface="Inter" pitchFamily="34" charset="-120"/>
              </a:rPr>
              <a:t>→</a:t>
            </a:r>
            <a:endParaRPr lang="en-US" sz="1000" dirty="0"/>
          </a:p>
        </p:txBody>
      </p:sp>
      <p:sp>
        <p:nvSpPr>
          <p:cNvPr id="9" name="Shape 7"/>
          <p:cNvSpPr/>
          <p:nvPr/>
        </p:nvSpPr>
        <p:spPr>
          <a:xfrm>
            <a:off x="1499616" y="2103120"/>
            <a:ext cx="932688" cy="502920"/>
          </a:xfrm>
          <a:prstGeom prst="roundRect">
            <a:avLst>
              <a:gd name="adj" fmla="val 9091"/>
            </a:avLst>
          </a:prstGeom>
          <a:solidFill>
            <a:srgbClr val="1B2640"/>
          </a:solidFill>
          <a:ln w="9525">
            <a:solidFill>
              <a:srgbClr val="64748B"/>
            </a:solidFill>
            <a:prstDash val="solid"/>
          </a:ln>
        </p:spPr>
        <p:txBody>
          <a:bodyPr/>
          <a:lstStyle/>
          <a:p>
            <a:endParaRPr/>
          </a:p>
        </p:txBody>
      </p:sp>
      <p:sp>
        <p:nvSpPr>
          <p:cNvPr id="10" name="Text 8"/>
          <p:cNvSpPr/>
          <p:nvPr/>
        </p:nvSpPr>
        <p:spPr>
          <a:xfrm>
            <a:off x="1499616" y="2103120"/>
            <a:ext cx="932688" cy="502920"/>
          </a:xfrm>
          <a:prstGeom prst="rect">
            <a:avLst/>
          </a:prstGeom>
          <a:noFill/>
          <a:ln/>
        </p:spPr>
        <p:txBody>
          <a:bodyPr wrap="square" lIns="0" tIns="0" rIns="0" bIns="0" rtlCol="0" anchor="ctr"/>
          <a:lstStyle/>
          <a:p>
            <a:pPr marL="0" indent="0" algn="ctr">
              <a:buNone/>
            </a:pPr>
            <a:r>
              <a:rPr lang="en-US" sz="1100" b="1" dirty="0">
                <a:solidFill>
                  <a:srgbClr val="F8FAFC"/>
                </a:solidFill>
                <a:latin typeface="Inter" pitchFamily="34" charset="0"/>
                <a:ea typeface="Inter" pitchFamily="34" charset="-122"/>
                <a:cs typeface="Inter" pitchFamily="34" charset="-120"/>
              </a:rPr>
              <a:t>explore</a:t>
            </a:r>
            <a:endParaRPr lang="en-US" sz="1100" dirty="0"/>
          </a:p>
        </p:txBody>
      </p:sp>
      <p:sp>
        <p:nvSpPr>
          <p:cNvPr id="11" name="Text 9"/>
          <p:cNvSpPr/>
          <p:nvPr/>
        </p:nvSpPr>
        <p:spPr>
          <a:xfrm>
            <a:off x="2414016" y="2103120"/>
            <a:ext cx="164592" cy="502920"/>
          </a:xfrm>
          <a:prstGeom prst="rect">
            <a:avLst/>
          </a:prstGeom>
          <a:noFill/>
          <a:ln/>
        </p:spPr>
        <p:txBody>
          <a:bodyPr wrap="square" lIns="0" tIns="0" rIns="0" bIns="0" rtlCol="0" anchor="ctr"/>
          <a:lstStyle/>
          <a:p>
            <a:pPr marL="0" indent="0" algn="ctr">
              <a:buNone/>
            </a:pPr>
            <a:r>
              <a:rPr lang="en-US" sz="1000" dirty="0">
                <a:solidFill>
                  <a:srgbClr val="3B82F6"/>
                </a:solidFill>
                <a:latin typeface="Inter" pitchFamily="34" charset="0"/>
                <a:ea typeface="Inter" pitchFamily="34" charset="-122"/>
                <a:cs typeface="Inter" pitchFamily="34" charset="-120"/>
              </a:rPr>
              <a:t>→</a:t>
            </a:r>
            <a:endParaRPr lang="en-US" sz="1000" dirty="0"/>
          </a:p>
        </p:txBody>
      </p:sp>
      <p:sp>
        <p:nvSpPr>
          <p:cNvPr id="12" name="Shape 10"/>
          <p:cNvSpPr/>
          <p:nvPr/>
        </p:nvSpPr>
        <p:spPr>
          <a:xfrm>
            <a:off x="2542032" y="2103120"/>
            <a:ext cx="932688" cy="502920"/>
          </a:xfrm>
          <a:prstGeom prst="roundRect">
            <a:avLst>
              <a:gd name="adj" fmla="val 9091"/>
            </a:avLst>
          </a:prstGeom>
          <a:solidFill>
            <a:srgbClr val="1B2640"/>
          </a:solidFill>
          <a:ln w="9525">
            <a:solidFill>
              <a:srgbClr val="64748B"/>
            </a:solidFill>
            <a:prstDash val="solid"/>
          </a:ln>
        </p:spPr>
        <p:txBody>
          <a:bodyPr/>
          <a:lstStyle/>
          <a:p>
            <a:endParaRPr/>
          </a:p>
        </p:txBody>
      </p:sp>
      <p:sp>
        <p:nvSpPr>
          <p:cNvPr id="13" name="Text 11"/>
          <p:cNvSpPr/>
          <p:nvPr/>
        </p:nvSpPr>
        <p:spPr>
          <a:xfrm>
            <a:off x="2542032" y="2103120"/>
            <a:ext cx="932688" cy="502920"/>
          </a:xfrm>
          <a:prstGeom prst="rect">
            <a:avLst/>
          </a:prstGeom>
          <a:noFill/>
          <a:ln/>
        </p:spPr>
        <p:txBody>
          <a:bodyPr wrap="square" lIns="0" tIns="0" rIns="0" bIns="0" rtlCol="0" anchor="ctr"/>
          <a:lstStyle/>
          <a:p>
            <a:pPr marL="0" indent="0" algn="ctr">
              <a:buNone/>
            </a:pPr>
            <a:r>
              <a:rPr lang="en-US" sz="1100" b="1" dirty="0">
                <a:solidFill>
                  <a:srgbClr val="F8FAFC"/>
                </a:solidFill>
                <a:latin typeface="Inter" pitchFamily="34" charset="0"/>
                <a:ea typeface="Inter" pitchFamily="34" charset="-122"/>
                <a:cs typeface="Inter" pitchFamily="34" charset="-120"/>
              </a:rPr>
              <a:t>implement</a:t>
            </a:r>
            <a:endParaRPr lang="en-US" sz="1100" dirty="0"/>
          </a:p>
        </p:txBody>
      </p:sp>
      <p:sp>
        <p:nvSpPr>
          <p:cNvPr id="14" name="Text 12"/>
          <p:cNvSpPr/>
          <p:nvPr/>
        </p:nvSpPr>
        <p:spPr>
          <a:xfrm>
            <a:off x="3456432" y="2103120"/>
            <a:ext cx="164592" cy="502920"/>
          </a:xfrm>
          <a:prstGeom prst="rect">
            <a:avLst/>
          </a:prstGeom>
          <a:noFill/>
          <a:ln/>
        </p:spPr>
        <p:txBody>
          <a:bodyPr wrap="square" lIns="0" tIns="0" rIns="0" bIns="0" rtlCol="0" anchor="ctr"/>
          <a:lstStyle/>
          <a:p>
            <a:pPr marL="0" indent="0" algn="ctr">
              <a:buNone/>
            </a:pPr>
            <a:r>
              <a:rPr lang="en-US" sz="1000" dirty="0">
                <a:solidFill>
                  <a:srgbClr val="3B82F6"/>
                </a:solidFill>
                <a:latin typeface="Inter" pitchFamily="34" charset="0"/>
                <a:ea typeface="Inter" pitchFamily="34" charset="-122"/>
                <a:cs typeface="Inter" pitchFamily="34" charset="-120"/>
              </a:rPr>
              <a:t>→</a:t>
            </a:r>
            <a:endParaRPr lang="en-US" sz="1000" dirty="0"/>
          </a:p>
        </p:txBody>
      </p:sp>
      <p:sp>
        <p:nvSpPr>
          <p:cNvPr id="15" name="Shape 13"/>
          <p:cNvSpPr/>
          <p:nvPr/>
        </p:nvSpPr>
        <p:spPr>
          <a:xfrm>
            <a:off x="3584448" y="2103120"/>
            <a:ext cx="932688" cy="502920"/>
          </a:xfrm>
          <a:prstGeom prst="roundRect">
            <a:avLst>
              <a:gd name="adj" fmla="val 9091"/>
            </a:avLst>
          </a:prstGeom>
          <a:solidFill>
            <a:srgbClr val="1B2640"/>
          </a:solidFill>
          <a:ln w="9525">
            <a:solidFill>
              <a:srgbClr val="64748B"/>
            </a:solidFill>
            <a:prstDash val="solid"/>
          </a:ln>
        </p:spPr>
        <p:txBody>
          <a:bodyPr/>
          <a:lstStyle/>
          <a:p>
            <a:endParaRPr/>
          </a:p>
        </p:txBody>
      </p:sp>
      <p:sp>
        <p:nvSpPr>
          <p:cNvPr id="16" name="Text 14"/>
          <p:cNvSpPr/>
          <p:nvPr/>
        </p:nvSpPr>
        <p:spPr>
          <a:xfrm>
            <a:off x="3584448" y="2103120"/>
            <a:ext cx="932688" cy="502920"/>
          </a:xfrm>
          <a:prstGeom prst="rect">
            <a:avLst/>
          </a:prstGeom>
          <a:noFill/>
          <a:ln/>
        </p:spPr>
        <p:txBody>
          <a:bodyPr wrap="square" lIns="0" tIns="0" rIns="0" bIns="0" rtlCol="0" anchor="ctr"/>
          <a:lstStyle/>
          <a:p>
            <a:pPr marL="0" indent="0" algn="ctr">
              <a:buNone/>
            </a:pPr>
            <a:r>
              <a:rPr lang="en-US" sz="1100" b="1" dirty="0">
                <a:solidFill>
                  <a:srgbClr val="F8FAFC"/>
                </a:solidFill>
                <a:latin typeface="Inter" pitchFamily="34" charset="0"/>
                <a:ea typeface="Inter" pitchFamily="34" charset="-122"/>
                <a:cs typeface="Inter" pitchFamily="34" charset="-120"/>
              </a:rPr>
              <a:t>test</a:t>
            </a:r>
            <a:endParaRPr lang="en-US" sz="1100" dirty="0"/>
          </a:p>
        </p:txBody>
      </p:sp>
      <p:sp>
        <p:nvSpPr>
          <p:cNvPr id="17" name="Text 15"/>
          <p:cNvSpPr/>
          <p:nvPr/>
        </p:nvSpPr>
        <p:spPr>
          <a:xfrm>
            <a:off x="4498848" y="2103120"/>
            <a:ext cx="164592" cy="502920"/>
          </a:xfrm>
          <a:prstGeom prst="rect">
            <a:avLst/>
          </a:prstGeom>
          <a:noFill/>
          <a:ln/>
        </p:spPr>
        <p:txBody>
          <a:bodyPr wrap="square" lIns="0" tIns="0" rIns="0" bIns="0" rtlCol="0" anchor="ctr"/>
          <a:lstStyle/>
          <a:p>
            <a:pPr marL="0" indent="0" algn="ctr">
              <a:buNone/>
            </a:pPr>
            <a:r>
              <a:rPr lang="en-US" sz="1000" dirty="0">
                <a:solidFill>
                  <a:srgbClr val="3B82F6"/>
                </a:solidFill>
                <a:latin typeface="Inter" pitchFamily="34" charset="0"/>
                <a:ea typeface="Inter" pitchFamily="34" charset="-122"/>
                <a:cs typeface="Inter" pitchFamily="34" charset="-120"/>
              </a:rPr>
              <a:t>→</a:t>
            </a:r>
            <a:endParaRPr lang="en-US" sz="1000" dirty="0"/>
          </a:p>
        </p:txBody>
      </p:sp>
      <p:sp>
        <p:nvSpPr>
          <p:cNvPr id="18" name="Shape 16"/>
          <p:cNvSpPr/>
          <p:nvPr/>
        </p:nvSpPr>
        <p:spPr>
          <a:xfrm>
            <a:off x="4626864" y="2103120"/>
            <a:ext cx="932688" cy="502920"/>
          </a:xfrm>
          <a:prstGeom prst="roundRect">
            <a:avLst>
              <a:gd name="adj" fmla="val 9091"/>
            </a:avLst>
          </a:prstGeom>
          <a:solidFill>
            <a:srgbClr val="1B2640"/>
          </a:solidFill>
          <a:ln w="9525">
            <a:solidFill>
              <a:srgbClr val="64748B"/>
            </a:solidFill>
            <a:prstDash val="solid"/>
          </a:ln>
        </p:spPr>
        <p:txBody>
          <a:bodyPr/>
          <a:lstStyle/>
          <a:p>
            <a:endParaRPr/>
          </a:p>
        </p:txBody>
      </p:sp>
      <p:sp>
        <p:nvSpPr>
          <p:cNvPr id="19" name="Text 17"/>
          <p:cNvSpPr/>
          <p:nvPr/>
        </p:nvSpPr>
        <p:spPr>
          <a:xfrm>
            <a:off x="4626864" y="2103120"/>
            <a:ext cx="932688" cy="502920"/>
          </a:xfrm>
          <a:prstGeom prst="rect">
            <a:avLst/>
          </a:prstGeom>
          <a:noFill/>
          <a:ln/>
        </p:spPr>
        <p:txBody>
          <a:bodyPr wrap="square" lIns="0" tIns="0" rIns="0" bIns="0" rtlCol="0" anchor="ctr"/>
          <a:lstStyle/>
          <a:p>
            <a:pPr marL="0" indent="0" algn="ctr">
              <a:buNone/>
            </a:pPr>
            <a:r>
              <a:rPr lang="en-US" sz="1100" b="1" dirty="0">
                <a:solidFill>
                  <a:srgbClr val="F8FAFC"/>
                </a:solidFill>
                <a:latin typeface="Inter" pitchFamily="34" charset="0"/>
                <a:ea typeface="Inter" pitchFamily="34" charset="-122"/>
                <a:cs typeface="Inter" pitchFamily="34" charset="-120"/>
              </a:rPr>
              <a:t>review</a:t>
            </a:r>
            <a:endParaRPr lang="en-US" sz="1100" dirty="0"/>
          </a:p>
        </p:txBody>
      </p:sp>
      <p:sp>
        <p:nvSpPr>
          <p:cNvPr id="20" name="Text 18"/>
          <p:cNvSpPr/>
          <p:nvPr/>
        </p:nvSpPr>
        <p:spPr>
          <a:xfrm>
            <a:off x="5541264" y="2103120"/>
            <a:ext cx="164592" cy="502920"/>
          </a:xfrm>
          <a:prstGeom prst="rect">
            <a:avLst/>
          </a:prstGeom>
          <a:noFill/>
          <a:ln/>
        </p:spPr>
        <p:txBody>
          <a:bodyPr wrap="square" lIns="0" tIns="0" rIns="0" bIns="0" rtlCol="0" anchor="ctr"/>
          <a:lstStyle/>
          <a:p>
            <a:pPr marL="0" indent="0" algn="ctr">
              <a:buNone/>
            </a:pPr>
            <a:r>
              <a:rPr lang="en-US" sz="1000" dirty="0">
                <a:solidFill>
                  <a:srgbClr val="3B82F6"/>
                </a:solidFill>
                <a:latin typeface="Inter" pitchFamily="34" charset="0"/>
                <a:ea typeface="Inter" pitchFamily="34" charset="-122"/>
                <a:cs typeface="Inter" pitchFamily="34" charset="-120"/>
              </a:rPr>
              <a:t>→</a:t>
            </a:r>
            <a:endParaRPr lang="en-US" sz="1000" dirty="0"/>
          </a:p>
        </p:txBody>
      </p:sp>
      <p:sp>
        <p:nvSpPr>
          <p:cNvPr id="21" name="Shape 19"/>
          <p:cNvSpPr/>
          <p:nvPr/>
        </p:nvSpPr>
        <p:spPr>
          <a:xfrm>
            <a:off x="5669280" y="2103120"/>
            <a:ext cx="932688" cy="502920"/>
          </a:xfrm>
          <a:prstGeom prst="roundRect">
            <a:avLst>
              <a:gd name="adj" fmla="val 9091"/>
            </a:avLst>
          </a:prstGeom>
          <a:solidFill>
            <a:srgbClr val="1B2640"/>
          </a:solidFill>
          <a:ln w="9525">
            <a:solidFill>
              <a:srgbClr val="64748B"/>
            </a:solidFill>
            <a:prstDash val="solid"/>
          </a:ln>
        </p:spPr>
        <p:txBody>
          <a:bodyPr/>
          <a:lstStyle/>
          <a:p>
            <a:endParaRPr/>
          </a:p>
        </p:txBody>
      </p:sp>
      <p:sp>
        <p:nvSpPr>
          <p:cNvPr id="22" name="Text 20"/>
          <p:cNvSpPr/>
          <p:nvPr/>
        </p:nvSpPr>
        <p:spPr>
          <a:xfrm>
            <a:off x="5669280" y="2103120"/>
            <a:ext cx="932688" cy="502920"/>
          </a:xfrm>
          <a:prstGeom prst="rect">
            <a:avLst/>
          </a:prstGeom>
          <a:noFill/>
          <a:ln/>
        </p:spPr>
        <p:txBody>
          <a:bodyPr wrap="square" lIns="0" tIns="0" rIns="0" bIns="0" rtlCol="0" anchor="ctr"/>
          <a:lstStyle/>
          <a:p>
            <a:pPr marL="0" indent="0" algn="ctr">
              <a:buNone/>
            </a:pPr>
            <a:r>
              <a:rPr lang="en-US" sz="1100" b="1" dirty="0">
                <a:solidFill>
                  <a:srgbClr val="F8FAFC"/>
                </a:solidFill>
                <a:latin typeface="Inter" pitchFamily="34" charset="0"/>
                <a:ea typeface="Inter" pitchFamily="34" charset="-122"/>
                <a:cs typeface="Inter" pitchFamily="34" charset="-120"/>
              </a:rPr>
              <a:t>audit</a:t>
            </a:r>
            <a:endParaRPr lang="en-US" sz="1100" dirty="0"/>
          </a:p>
        </p:txBody>
      </p:sp>
      <p:sp>
        <p:nvSpPr>
          <p:cNvPr id="23" name="Text 21"/>
          <p:cNvSpPr/>
          <p:nvPr/>
        </p:nvSpPr>
        <p:spPr>
          <a:xfrm>
            <a:off x="6583680" y="2103120"/>
            <a:ext cx="164592" cy="502920"/>
          </a:xfrm>
          <a:prstGeom prst="rect">
            <a:avLst/>
          </a:prstGeom>
          <a:noFill/>
          <a:ln/>
        </p:spPr>
        <p:txBody>
          <a:bodyPr wrap="square" lIns="0" tIns="0" rIns="0" bIns="0" rtlCol="0" anchor="ctr"/>
          <a:lstStyle/>
          <a:p>
            <a:pPr marL="0" indent="0" algn="ctr">
              <a:buNone/>
            </a:pPr>
            <a:r>
              <a:rPr lang="en-US" sz="1000" dirty="0">
                <a:solidFill>
                  <a:srgbClr val="3B82F6"/>
                </a:solidFill>
                <a:latin typeface="Inter" pitchFamily="34" charset="0"/>
                <a:ea typeface="Inter" pitchFamily="34" charset="-122"/>
                <a:cs typeface="Inter" pitchFamily="34" charset="-120"/>
              </a:rPr>
              <a:t>→</a:t>
            </a:r>
            <a:endParaRPr lang="en-US" sz="1000" dirty="0"/>
          </a:p>
        </p:txBody>
      </p:sp>
      <p:sp>
        <p:nvSpPr>
          <p:cNvPr id="24" name="Shape 22"/>
          <p:cNvSpPr/>
          <p:nvPr/>
        </p:nvSpPr>
        <p:spPr>
          <a:xfrm>
            <a:off x="6711696" y="2103120"/>
            <a:ext cx="932688" cy="502920"/>
          </a:xfrm>
          <a:prstGeom prst="roundRect">
            <a:avLst>
              <a:gd name="adj" fmla="val 9091"/>
            </a:avLst>
          </a:prstGeom>
          <a:solidFill>
            <a:srgbClr val="1B2640"/>
          </a:solidFill>
          <a:ln w="9525">
            <a:solidFill>
              <a:srgbClr val="64748B"/>
            </a:solidFill>
            <a:prstDash val="solid"/>
          </a:ln>
        </p:spPr>
        <p:txBody>
          <a:bodyPr/>
          <a:lstStyle/>
          <a:p>
            <a:endParaRPr/>
          </a:p>
        </p:txBody>
      </p:sp>
      <p:sp>
        <p:nvSpPr>
          <p:cNvPr id="25" name="Text 23"/>
          <p:cNvSpPr/>
          <p:nvPr/>
        </p:nvSpPr>
        <p:spPr>
          <a:xfrm>
            <a:off x="6711696" y="2103120"/>
            <a:ext cx="932688" cy="502920"/>
          </a:xfrm>
          <a:prstGeom prst="rect">
            <a:avLst/>
          </a:prstGeom>
          <a:noFill/>
          <a:ln/>
        </p:spPr>
        <p:txBody>
          <a:bodyPr wrap="square" lIns="0" tIns="0" rIns="0" bIns="0" rtlCol="0" anchor="ctr"/>
          <a:lstStyle/>
          <a:p>
            <a:pPr marL="0" indent="0" algn="ctr">
              <a:buNone/>
            </a:pPr>
            <a:r>
              <a:rPr lang="en-US" sz="1100" b="1" dirty="0">
                <a:solidFill>
                  <a:srgbClr val="F8FAFC"/>
                </a:solidFill>
                <a:latin typeface="Inter" pitchFamily="34" charset="0"/>
                <a:ea typeface="Inter" pitchFamily="34" charset="-122"/>
                <a:cs typeface="Inter" pitchFamily="34" charset="-120"/>
              </a:rPr>
              <a:t>commit</a:t>
            </a:r>
            <a:endParaRPr lang="en-US" sz="1100" dirty="0"/>
          </a:p>
        </p:txBody>
      </p:sp>
      <p:sp>
        <p:nvSpPr>
          <p:cNvPr id="26" name="Text 24"/>
          <p:cNvSpPr/>
          <p:nvPr/>
        </p:nvSpPr>
        <p:spPr>
          <a:xfrm>
            <a:off x="7626096" y="2103120"/>
            <a:ext cx="164592" cy="502920"/>
          </a:xfrm>
          <a:prstGeom prst="rect">
            <a:avLst/>
          </a:prstGeom>
          <a:noFill/>
          <a:ln/>
        </p:spPr>
        <p:txBody>
          <a:bodyPr wrap="square" lIns="0" tIns="0" rIns="0" bIns="0" rtlCol="0" anchor="ctr"/>
          <a:lstStyle/>
          <a:p>
            <a:pPr marL="0" indent="0" algn="ctr">
              <a:buNone/>
            </a:pPr>
            <a:r>
              <a:rPr lang="en-US" sz="1000" dirty="0">
                <a:solidFill>
                  <a:srgbClr val="3B82F6"/>
                </a:solidFill>
                <a:latin typeface="Inter" pitchFamily="34" charset="0"/>
                <a:ea typeface="Inter" pitchFamily="34" charset="-122"/>
                <a:cs typeface="Inter" pitchFamily="34" charset="-120"/>
              </a:rPr>
              <a:t>→</a:t>
            </a:r>
            <a:endParaRPr lang="en-US" sz="1000" dirty="0"/>
          </a:p>
        </p:txBody>
      </p:sp>
      <p:sp>
        <p:nvSpPr>
          <p:cNvPr id="27" name="Shape 25"/>
          <p:cNvSpPr/>
          <p:nvPr/>
        </p:nvSpPr>
        <p:spPr>
          <a:xfrm>
            <a:off x="7754112" y="2103120"/>
            <a:ext cx="932688" cy="502920"/>
          </a:xfrm>
          <a:prstGeom prst="roundRect">
            <a:avLst>
              <a:gd name="adj" fmla="val 9091"/>
            </a:avLst>
          </a:prstGeom>
          <a:solidFill>
            <a:srgbClr val="1B2640"/>
          </a:solidFill>
          <a:ln w="9525">
            <a:solidFill>
              <a:srgbClr val="64748B"/>
            </a:solidFill>
            <a:prstDash val="solid"/>
          </a:ln>
        </p:spPr>
        <p:txBody>
          <a:bodyPr/>
          <a:lstStyle/>
          <a:p>
            <a:endParaRPr/>
          </a:p>
        </p:txBody>
      </p:sp>
      <p:sp>
        <p:nvSpPr>
          <p:cNvPr id="28" name="Text 26"/>
          <p:cNvSpPr/>
          <p:nvPr/>
        </p:nvSpPr>
        <p:spPr>
          <a:xfrm>
            <a:off x="7754112" y="2103120"/>
            <a:ext cx="932688" cy="502920"/>
          </a:xfrm>
          <a:prstGeom prst="rect">
            <a:avLst/>
          </a:prstGeom>
          <a:noFill/>
          <a:ln/>
        </p:spPr>
        <p:txBody>
          <a:bodyPr wrap="square" lIns="0" tIns="0" rIns="0" bIns="0" rtlCol="0" anchor="ctr"/>
          <a:lstStyle/>
          <a:p>
            <a:pPr marL="0" indent="0" algn="ctr">
              <a:buNone/>
            </a:pPr>
            <a:r>
              <a:rPr lang="en-US" sz="1100" b="1" dirty="0">
                <a:solidFill>
                  <a:srgbClr val="F8FAFC"/>
                </a:solidFill>
                <a:latin typeface="Inter" pitchFamily="34" charset="0"/>
                <a:ea typeface="Inter" pitchFamily="34" charset="-122"/>
                <a:cs typeface="Inter" pitchFamily="34" charset="-120"/>
              </a:rPr>
              <a:t>PR</a:t>
            </a:r>
            <a:endParaRPr lang="en-US" sz="1100" dirty="0"/>
          </a:p>
        </p:txBody>
      </p:sp>
      <p:sp>
        <p:nvSpPr>
          <p:cNvPr id="29" name="Text 27"/>
          <p:cNvSpPr/>
          <p:nvPr/>
        </p:nvSpPr>
        <p:spPr>
          <a:xfrm>
            <a:off x="457200" y="3108960"/>
            <a:ext cx="8229600" cy="640080"/>
          </a:xfrm>
          <a:prstGeom prst="rect">
            <a:avLst/>
          </a:prstGeom>
          <a:noFill/>
          <a:ln/>
        </p:spPr>
        <p:txBody>
          <a:bodyPr wrap="square" lIns="0" tIns="0" rIns="0" bIns="0" rtlCol="0" anchor="ctr"/>
          <a:lstStyle/>
          <a:p>
            <a:pPr marL="0" indent="0" algn="ctr">
              <a:buNone/>
            </a:pPr>
            <a:r>
              <a:rPr lang="en-US" sz="1400" dirty="0">
                <a:solidFill>
                  <a:srgbClr val="94A3B8"/>
                </a:solidFill>
                <a:latin typeface="Inter" pitchFamily="34" charset="0"/>
                <a:ea typeface="Inter" pitchFamily="34" charset="-122"/>
                <a:cs typeface="Inter" pitchFamily="34" charset="-120"/>
              </a:rPr>
              <a:t>each box is a specialist — the orchestrator picks which one, when,</a:t>
            </a:r>
            <a:endParaRPr lang="en-US" sz="1400" dirty="0"/>
          </a:p>
          <a:p>
            <a:pPr marL="0" indent="0" algn="ctr">
              <a:buNone/>
            </a:pPr>
            <a:r>
              <a:rPr lang="en-US" sz="1400" dirty="0">
                <a:solidFill>
                  <a:srgbClr val="94A3B8"/>
                </a:solidFill>
                <a:latin typeface="Inter" pitchFamily="34" charset="0"/>
                <a:ea typeface="Inter" pitchFamily="34" charset="-122"/>
                <a:cs typeface="Inter" pitchFamily="34" charset="-120"/>
              </a:rPr>
              <a:t>and what to do when one fails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02 · how it works</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12</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02 · HOW IT WORKS</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the session is the unit of work</a:t>
            </a:r>
            <a:endParaRPr lang="en-US" sz="2800" dirty="0"/>
          </a:p>
        </p:txBody>
      </p:sp>
      <p:sp>
        <p:nvSpPr>
          <p:cNvPr id="6" name="Shape 4"/>
          <p:cNvSpPr/>
          <p:nvPr/>
        </p:nvSpPr>
        <p:spPr>
          <a:xfrm>
            <a:off x="457200" y="1600200"/>
            <a:ext cx="4023360" cy="1143000"/>
          </a:xfrm>
          <a:prstGeom prst="roundRect">
            <a:avLst>
              <a:gd name="adj" fmla="val 5600"/>
            </a:avLst>
          </a:prstGeom>
          <a:solidFill>
            <a:srgbClr val="1B2640"/>
          </a:solidFill>
          <a:ln/>
        </p:spPr>
        <p:txBody>
          <a:bodyPr/>
          <a:lstStyle/>
          <a:p>
            <a:endParaRPr/>
          </a:p>
        </p:txBody>
      </p:sp>
      <p:sp>
        <p:nvSpPr>
          <p:cNvPr id="7" name="Text 5"/>
          <p:cNvSpPr/>
          <p:nvPr/>
        </p:nvSpPr>
        <p:spPr>
          <a:xfrm>
            <a:off x="658368" y="1728216"/>
            <a:ext cx="3657600" cy="292608"/>
          </a:xfrm>
          <a:prstGeom prst="rect">
            <a:avLst/>
          </a:prstGeom>
          <a:noFill/>
          <a:ln/>
        </p:spPr>
        <p:txBody>
          <a:bodyPr wrap="square" lIns="0" tIns="0" rIns="0" bIns="0" rtlCol="0" anchor="ctr"/>
          <a:lstStyle/>
          <a:p>
            <a:pPr marL="0" indent="0">
              <a:buNone/>
            </a:pPr>
            <a:r>
              <a:rPr lang="en-US" sz="1400" b="1" dirty="0">
                <a:solidFill>
                  <a:srgbClr val="3B82F6"/>
                </a:solidFill>
                <a:latin typeface="Inter" pitchFamily="34" charset="0"/>
                <a:ea typeface="Inter" pitchFamily="34" charset="-122"/>
                <a:cs typeface="Inter" pitchFamily="34" charset="-120"/>
              </a:rPr>
              <a:t>fresh</a:t>
            </a:r>
            <a:endParaRPr lang="en-US" sz="1400" dirty="0"/>
          </a:p>
        </p:txBody>
      </p:sp>
      <p:sp>
        <p:nvSpPr>
          <p:cNvPr id="8" name="Text 6"/>
          <p:cNvSpPr/>
          <p:nvPr/>
        </p:nvSpPr>
        <p:spPr>
          <a:xfrm>
            <a:off x="658368" y="2057400"/>
            <a:ext cx="3657600" cy="621792"/>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every session starts with a clean, focused context — no drift, no leftover noise</a:t>
            </a:r>
            <a:endParaRPr lang="en-US" sz="1050" dirty="0"/>
          </a:p>
        </p:txBody>
      </p:sp>
      <p:sp>
        <p:nvSpPr>
          <p:cNvPr id="9" name="Shape 7"/>
          <p:cNvSpPr/>
          <p:nvPr/>
        </p:nvSpPr>
        <p:spPr>
          <a:xfrm>
            <a:off x="4709160" y="1600200"/>
            <a:ext cx="4023360" cy="1143000"/>
          </a:xfrm>
          <a:prstGeom prst="roundRect">
            <a:avLst>
              <a:gd name="adj" fmla="val 5600"/>
            </a:avLst>
          </a:prstGeom>
          <a:solidFill>
            <a:srgbClr val="1B2640"/>
          </a:solidFill>
          <a:ln/>
        </p:spPr>
        <p:txBody>
          <a:bodyPr/>
          <a:lstStyle/>
          <a:p>
            <a:endParaRPr/>
          </a:p>
        </p:txBody>
      </p:sp>
      <p:sp>
        <p:nvSpPr>
          <p:cNvPr id="10" name="Text 8"/>
          <p:cNvSpPr/>
          <p:nvPr/>
        </p:nvSpPr>
        <p:spPr>
          <a:xfrm>
            <a:off x="4910328" y="1728216"/>
            <a:ext cx="3657600" cy="292608"/>
          </a:xfrm>
          <a:prstGeom prst="rect">
            <a:avLst/>
          </a:prstGeom>
          <a:noFill/>
          <a:ln/>
        </p:spPr>
        <p:txBody>
          <a:bodyPr wrap="square" lIns="0" tIns="0" rIns="0" bIns="0" rtlCol="0" anchor="ctr"/>
          <a:lstStyle/>
          <a:p>
            <a:pPr marL="0" indent="0">
              <a:buNone/>
            </a:pPr>
            <a:r>
              <a:rPr lang="en-US" sz="1400" b="1" dirty="0">
                <a:solidFill>
                  <a:srgbClr val="3B82F6"/>
                </a:solidFill>
                <a:latin typeface="Inter" pitchFamily="34" charset="0"/>
                <a:ea typeface="Inter" pitchFamily="34" charset="-122"/>
                <a:cs typeface="Inter" pitchFamily="34" charset="-120"/>
              </a:rPr>
              <a:t>isolated</a:t>
            </a:r>
            <a:endParaRPr lang="en-US" sz="1400" dirty="0"/>
          </a:p>
        </p:txBody>
      </p:sp>
      <p:sp>
        <p:nvSpPr>
          <p:cNvPr id="11" name="Text 9"/>
          <p:cNvSpPr/>
          <p:nvPr/>
        </p:nvSpPr>
        <p:spPr>
          <a:xfrm>
            <a:off x="4910328" y="2057400"/>
            <a:ext cx="3657600" cy="621792"/>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parallel sessions can't step on each other — one repo, separate worktrees</a:t>
            </a:r>
            <a:endParaRPr lang="en-US" sz="1050" dirty="0"/>
          </a:p>
        </p:txBody>
      </p:sp>
      <p:sp>
        <p:nvSpPr>
          <p:cNvPr id="12" name="Shape 10"/>
          <p:cNvSpPr/>
          <p:nvPr/>
        </p:nvSpPr>
        <p:spPr>
          <a:xfrm>
            <a:off x="457200" y="2880360"/>
            <a:ext cx="4023360" cy="1143000"/>
          </a:xfrm>
          <a:prstGeom prst="roundRect">
            <a:avLst>
              <a:gd name="adj" fmla="val 5600"/>
            </a:avLst>
          </a:prstGeom>
          <a:solidFill>
            <a:srgbClr val="1B2640"/>
          </a:solidFill>
          <a:ln/>
        </p:spPr>
        <p:txBody>
          <a:bodyPr/>
          <a:lstStyle/>
          <a:p>
            <a:endParaRPr/>
          </a:p>
        </p:txBody>
      </p:sp>
      <p:sp>
        <p:nvSpPr>
          <p:cNvPr id="13" name="Text 11"/>
          <p:cNvSpPr/>
          <p:nvPr/>
        </p:nvSpPr>
        <p:spPr>
          <a:xfrm>
            <a:off x="658368" y="3008376"/>
            <a:ext cx="3657600" cy="292608"/>
          </a:xfrm>
          <a:prstGeom prst="rect">
            <a:avLst/>
          </a:prstGeom>
          <a:noFill/>
          <a:ln/>
        </p:spPr>
        <p:txBody>
          <a:bodyPr wrap="square" lIns="0" tIns="0" rIns="0" bIns="0" rtlCol="0" anchor="ctr"/>
          <a:lstStyle/>
          <a:p>
            <a:pPr marL="0" indent="0">
              <a:buNone/>
            </a:pPr>
            <a:r>
              <a:rPr lang="en-US" sz="1400" b="1" dirty="0">
                <a:solidFill>
                  <a:srgbClr val="3B82F6"/>
                </a:solidFill>
                <a:latin typeface="Inter" pitchFamily="34" charset="0"/>
                <a:ea typeface="Inter" pitchFamily="34" charset="-122"/>
                <a:cs typeface="Inter" pitchFamily="34" charset="-120"/>
              </a:rPr>
              <a:t>disposable</a:t>
            </a:r>
            <a:endParaRPr lang="en-US" sz="1400" dirty="0"/>
          </a:p>
        </p:txBody>
      </p:sp>
      <p:sp>
        <p:nvSpPr>
          <p:cNvPr id="14" name="Text 12"/>
          <p:cNvSpPr/>
          <p:nvPr/>
        </p:nvSpPr>
        <p:spPr>
          <a:xfrm>
            <a:off x="658368" y="3337560"/>
            <a:ext cx="3657600" cy="621792"/>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the session ends when the task ends — nothing keeps running, nothing keeps billing</a:t>
            </a:r>
            <a:endParaRPr lang="en-US" sz="1050" dirty="0"/>
          </a:p>
        </p:txBody>
      </p:sp>
      <p:sp>
        <p:nvSpPr>
          <p:cNvPr id="15" name="Shape 13"/>
          <p:cNvSpPr/>
          <p:nvPr/>
        </p:nvSpPr>
        <p:spPr>
          <a:xfrm>
            <a:off x="4709160" y="2880360"/>
            <a:ext cx="4023360" cy="1143000"/>
          </a:xfrm>
          <a:prstGeom prst="roundRect">
            <a:avLst>
              <a:gd name="adj" fmla="val 5600"/>
            </a:avLst>
          </a:prstGeom>
          <a:solidFill>
            <a:srgbClr val="1B2640"/>
          </a:solidFill>
          <a:ln/>
        </p:spPr>
        <p:txBody>
          <a:bodyPr/>
          <a:lstStyle/>
          <a:p>
            <a:endParaRPr/>
          </a:p>
        </p:txBody>
      </p:sp>
      <p:sp>
        <p:nvSpPr>
          <p:cNvPr id="16" name="Text 14"/>
          <p:cNvSpPr/>
          <p:nvPr/>
        </p:nvSpPr>
        <p:spPr>
          <a:xfrm>
            <a:off x="4910328" y="3008376"/>
            <a:ext cx="3657600" cy="292608"/>
          </a:xfrm>
          <a:prstGeom prst="rect">
            <a:avLst/>
          </a:prstGeom>
          <a:noFill/>
          <a:ln/>
        </p:spPr>
        <p:txBody>
          <a:bodyPr wrap="square" lIns="0" tIns="0" rIns="0" bIns="0" rtlCol="0" anchor="ctr"/>
          <a:lstStyle/>
          <a:p>
            <a:pPr marL="0" indent="0">
              <a:buNone/>
            </a:pPr>
            <a:r>
              <a:rPr lang="en-US" sz="1400" b="1" dirty="0">
                <a:solidFill>
                  <a:srgbClr val="3B82F6"/>
                </a:solidFill>
                <a:latin typeface="Inter" pitchFamily="34" charset="0"/>
                <a:ea typeface="Inter" pitchFamily="34" charset="-122"/>
                <a:cs typeface="Inter" pitchFamily="34" charset="-120"/>
              </a:rPr>
              <a:t>stateless by design</a:t>
            </a:r>
            <a:endParaRPr lang="en-US" sz="1400" dirty="0"/>
          </a:p>
        </p:txBody>
      </p:sp>
      <p:sp>
        <p:nvSpPr>
          <p:cNvPr id="17" name="Text 15"/>
          <p:cNvSpPr/>
          <p:nvPr/>
        </p:nvSpPr>
        <p:spPr>
          <a:xfrm>
            <a:off x="4910328" y="3337560"/>
            <a:ext cx="3657600" cy="621792"/>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sessions don't need to remember: the knowledge lives in skills and CLAUDE.md</a:t>
            </a:r>
            <a:endParaRPr lang="en-US" sz="1050" dirty="0"/>
          </a:p>
        </p:txBody>
      </p:sp>
      <p:sp>
        <p:nvSpPr>
          <p:cNvPr id="18" name="Text 16"/>
          <p:cNvSpPr/>
          <p:nvPr/>
        </p:nvSpPr>
        <p:spPr>
          <a:xfrm>
            <a:off x="457200" y="4297680"/>
            <a:ext cx="8229600" cy="365760"/>
          </a:xfrm>
          <a:prstGeom prst="rect">
            <a:avLst/>
          </a:prstGeom>
          <a:noFill/>
          <a:ln/>
        </p:spPr>
        <p:txBody>
          <a:bodyPr wrap="square" lIns="0" tIns="0" rIns="0" bIns="0" rtlCol="0" anchor="ctr"/>
          <a:lstStyle/>
          <a:p>
            <a:pPr marL="0" indent="0" algn="ctr">
              <a:buNone/>
            </a:pPr>
            <a:r>
              <a:rPr lang="en-US" sz="1450" b="1" i="1" dirty="0">
                <a:solidFill>
                  <a:srgbClr val="3B82F6"/>
                </a:solidFill>
                <a:latin typeface="Inter" pitchFamily="34" charset="0"/>
                <a:ea typeface="Inter" pitchFamily="34" charset="-122"/>
                <a:cs typeface="Inter" pitchFamily="34" charset="-120"/>
              </a:rPr>
              <a:t>kill the session, keep the skill — that's the whole trick</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02 · the rules</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13</a:t>
            </a:r>
            <a:endParaRPr lang="en-US" sz="800" dirty="0"/>
          </a:p>
        </p:txBody>
      </p:sp>
      <p:sp>
        <p:nvSpPr>
          <p:cNvPr id="4" name="Text 2"/>
          <p:cNvSpPr/>
          <p:nvPr/>
        </p:nvSpPr>
        <p:spPr>
          <a:xfrm>
            <a:off x="457200" y="438912"/>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03 · THE RULES</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three rules make it trustworthy</a:t>
            </a:r>
            <a:endParaRPr lang="en-US" sz="2800" dirty="0"/>
          </a:p>
        </p:txBody>
      </p:sp>
      <p:sp>
        <p:nvSpPr>
          <p:cNvPr id="6" name="Shape 4"/>
          <p:cNvSpPr/>
          <p:nvPr/>
        </p:nvSpPr>
        <p:spPr>
          <a:xfrm>
            <a:off x="457200" y="1600200"/>
            <a:ext cx="8229600" cy="841248"/>
          </a:xfrm>
          <a:prstGeom prst="roundRect">
            <a:avLst>
              <a:gd name="adj" fmla="val 6522"/>
            </a:avLst>
          </a:prstGeom>
          <a:solidFill>
            <a:srgbClr val="1B2640"/>
          </a:solidFill>
          <a:ln/>
        </p:spPr>
        <p:txBody>
          <a:bodyPr/>
          <a:lstStyle/>
          <a:p>
            <a:endParaRPr/>
          </a:p>
        </p:txBody>
      </p:sp>
      <p:sp>
        <p:nvSpPr>
          <p:cNvPr id="7" name="Text 5"/>
          <p:cNvSpPr/>
          <p:nvPr/>
        </p:nvSpPr>
        <p:spPr>
          <a:xfrm>
            <a:off x="685800" y="1691640"/>
            <a:ext cx="2377440" cy="320040"/>
          </a:xfrm>
          <a:prstGeom prst="rect">
            <a:avLst/>
          </a:prstGeom>
          <a:noFill/>
          <a:ln/>
        </p:spPr>
        <p:txBody>
          <a:bodyPr wrap="square" lIns="0" tIns="0" rIns="0" bIns="0" rtlCol="0" anchor="ctr"/>
          <a:lstStyle/>
          <a:p>
            <a:pPr marL="0" indent="0">
              <a:buNone/>
            </a:pPr>
            <a:r>
              <a:rPr lang="en-US" sz="1400" b="1" dirty="0">
                <a:solidFill>
                  <a:srgbClr val="34D399"/>
                </a:solidFill>
                <a:latin typeface="Inter" pitchFamily="34" charset="0"/>
                <a:ea typeface="Inter" pitchFamily="34" charset="-122"/>
                <a:cs typeface="Inter" pitchFamily="34" charset="-120"/>
              </a:rPr>
              <a:t>1 · the gate</a:t>
            </a:r>
            <a:endParaRPr lang="en-US" sz="1400" dirty="0"/>
          </a:p>
        </p:txBody>
      </p:sp>
      <p:sp>
        <p:nvSpPr>
          <p:cNvPr id="8" name="Text 6"/>
          <p:cNvSpPr/>
          <p:nvPr/>
        </p:nvSpPr>
        <p:spPr>
          <a:xfrm>
            <a:off x="3200400" y="1691640"/>
            <a:ext cx="5303520" cy="32004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nothing ships until every check passes</a:t>
            </a:r>
            <a:endParaRPr lang="en-US" sz="1350" dirty="0"/>
          </a:p>
        </p:txBody>
      </p:sp>
      <p:sp>
        <p:nvSpPr>
          <p:cNvPr id="9" name="Text 7"/>
          <p:cNvSpPr/>
          <p:nvPr/>
        </p:nvSpPr>
        <p:spPr>
          <a:xfrm>
            <a:off x="3200400" y="2039112"/>
            <a:ext cx="5303520" cy="292608"/>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tests · security audit · build — machine-verified</a:t>
            </a:r>
            <a:endParaRPr lang="en-US" sz="1100" dirty="0"/>
          </a:p>
        </p:txBody>
      </p:sp>
      <p:sp>
        <p:nvSpPr>
          <p:cNvPr id="10" name="Shape 8"/>
          <p:cNvSpPr/>
          <p:nvPr/>
        </p:nvSpPr>
        <p:spPr>
          <a:xfrm>
            <a:off x="457200" y="2587752"/>
            <a:ext cx="8229600" cy="841248"/>
          </a:xfrm>
          <a:prstGeom prst="roundRect">
            <a:avLst>
              <a:gd name="adj" fmla="val 6522"/>
            </a:avLst>
          </a:prstGeom>
          <a:solidFill>
            <a:srgbClr val="1B2640"/>
          </a:solidFill>
          <a:ln/>
        </p:spPr>
        <p:txBody>
          <a:bodyPr/>
          <a:lstStyle/>
          <a:p>
            <a:endParaRPr/>
          </a:p>
        </p:txBody>
      </p:sp>
      <p:sp>
        <p:nvSpPr>
          <p:cNvPr id="11" name="Text 9"/>
          <p:cNvSpPr/>
          <p:nvPr/>
        </p:nvSpPr>
        <p:spPr>
          <a:xfrm>
            <a:off x="685800" y="2679192"/>
            <a:ext cx="2377440" cy="320040"/>
          </a:xfrm>
          <a:prstGeom prst="rect">
            <a:avLst/>
          </a:prstGeom>
          <a:noFill/>
          <a:ln/>
        </p:spPr>
        <p:txBody>
          <a:bodyPr wrap="square" lIns="0" tIns="0" rIns="0" bIns="0" rtlCol="0" anchor="ctr"/>
          <a:lstStyle/>
          <a:p>
            <a:pPr marL="0" indent="0">
              <a:buNone/>
            </a:pPr>
            <a:r>
              <a:rPr lang="en-US" sz="1400" b="1" dirty="0">
                <a:solidFill>
                  <a:srgbClr val="FBBF24"/>
                </a:solidFill>
                <a:latin typeface="Inter" pitchFamily="34" charset="0"/>
                <a:ea typeface="Inter" pitchFamily="34" charset="-122"/>
                <a:cs typeface="Inter" pitchFamily="34" charset="-120"/>
              </a:rPr>
              <a:t>2 · stopping</a:t>
            </a:r>
            <a:endParaRPr lang="en-US" sz="1400" dirty="0"/>
          </a:p>
        </p:txBody>
      </p:sp>
      <p:sp>
        <p:nvSpPr>
          <p:cNvPr id="12" name="Text 10"/>
          <p:cNvSpPr/>
          <p:nvPr/>
        </p:nvSpPr>
        <p:spPr>
          <a:xfrm>
            <a:off x="3200400" y="2679192"/>
            <a:ext cx="5303520" cy="32004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an agent that won't stop is not deployable</a:t>
            </a:r>
            <a:endParaRPr lang="en-US" sz="1350" dirty="0"/>
          </a:p>
        </p:txBody>
      </p:sp>
      <p:sp>
        <p:nvSpPr>
          <p:cNvPr id="13" name="Text 11"/>
          <p:cNvSpPr/>
          <p:nvPr/>
        </p:nvSpPr>
        <p:spPr>
          <a:xfrm>
            <a:off x="3200400" y="3026664"/>
            <a:ext cx="5303520" cy="292608"/>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3 failed attempts → escalate to a human, with full trace</a:t>
            </a:r>
            <a:endParaRPr lang="en-US" sz="1100" dirty="0"/>
          </a:p>
        </p:txBody>
      </p:sp>
      <p:sp>
        <p:nvSpPr>
          <p:cNvPr id="14" name="Shape 12"/>
          <p:cNvSpPr/>
          <p:nvPr/>
        </p:nvSpPr>
        <p:spPr>
          <a:xfrm>
            <a:off x="457200" y="3575304"/>
            <a:ext cx="8229600" cy="841248"/>
          </a:xfrm>
          <a:prstGeom prst="roundRect">
            <a:avLst>
              <a:gd name="adj" fmla="val 6522"/>
            </a:avLst>
          </a:prstGeom>
          <a:solidFill>
            <a:srgbClr val="1B2640"/>
          </a:solidFill>
          <a:ln/>
        </p:spPr>
        <p:txBody>
          <a:bodyPr/>
          <a:lstStyle/>
          <a:p>
            <a:endParaRPr/>
          </a:p>
        </p:txBody>
      </p:sp>
      <p:sp>
        <p:nvSpPr>
          <p:cNvPr id="15" name="Text 13"/>
          <p:cNvSpPr/>
          <p:nvPr/>
        </p:nvSpPr>
        <p:spPr>
          <a:xfrm>
            <a:off x="685800" y="3666744"/>
            <a:ext cx="2377440" cy="320040"/>
          </a:xfrm>
          <a:prstGeom prst="rect">
            <a:avLst/>
          </a:prstGeom>
          <a:noFill/>
          <a:ln/>
        </p:spPr>
        <p:txBody>
          <a:bodyPr wrap="square" lIns="0" tIns="0" rIns="0" bIns="0" rtlCol="0" anchor="ctr"/>
          <a:lstStyle/>
          <a:p>
            <a:pPr marL="0" indent="0">
              <a:buNone/>
            </a:pPr>
            <a:r>
              <a:rPr lang="en-US" sz="1400" b="1" dirty="0">
                <a:solidFill>
                  <a:srgbClr val="3B82F6"/>
                </a:solidFill>
                <a:latin typeface="Inter" pitchFamily="34" charset="0"/>
                <a:ea typeface="Inter" pitchFamily="34" charset="-122"/>
                <a:cs typeface="Inter" pitchFamily="34" charset="-120"/>
              </a:rPr>
              <a:t>3 · human sync points</a:t>
            </a:r>
            <a:endParaRPr lang="en-US" sz="1400" dirty="0"/>
          </a:p>
        </p:txBody>
      </p:sp>
      <p:sp>
        <p:nvSpPr>
          <p:cNvPr id="16" name="Text 14"/>
          <p:cNvSpPr/>
          <p:nvPr/>
        </p:nvSpPr>
        <p:spPr>
          <a:xfrm>
            <a:off x="3200400" y="3666744"/>
            <a:ext cx="5303520" cy="320040"/>
          </a:xfrm>
          <a:prstGeom prst="rect">
            <a:avLst/>
          </a:prstGeom>
          <a:noFill/>
          <a:ln/>
        </p:spPr>
        <p:txBody>
          <a:bodyPr wrap="square" lIns="0" tIns="0" rIns="0" bIns="0" rtlCol="0" anchor="ctr"/>
          <a:lstStyle/>
          <a:p>
            <a:pPr marL="0" indent="0">
              <a:buNone/>
            </a:pPr>
            <a:r>
              <a:rPr lang="en-US" sz="1350" b="1" dirty="0">
                <a:solidFill>
                  <a:srgbClr val="F8FAFC"/>
                </a:solidFill>
                <a:latin typeface="Inter" pitchFamily="34" charset="0"/>
                <a:ea typeface="Inter" pitchFamily="34" charset="-122"/>
                <a:cs typeface="Inter" pitchFamily="34" charset="-120"/>
              </a:rPr>
              <a:t>automation buys time, it doesn't replace judgment</a:t>
            </a:r>
            <a:endParaRPr lang="en-US" sz="1350" dirty="0"/>
          </a:p>
        </p:txBody>
      </p:sp>
      <p:sp>
        <p:nvSpPr>
          <p:cNvPr id="17" name="Text 15"/>
          <p:cNvSpPr/>
          <p:nvPr/>
        </p:nvSpPr>
        <p:spPr>
          <a:xfrm>
            <a:off x="3200400" y="4014216"/>
            <a:ext cx="5303520" cy="292608"/>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escalations, merges and deploys all end at a person</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03 · the demo</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14</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04 · THE DEMO</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what Gatherly does</a:t>
            </a:r>
            <a:endParaRPr lang="en-US" sz="2800" dirty="0"/>
          </a:p>
        </p:txBody>
      </p:sp>
      <p:sp>
        <p:nvSpPr>
          <p:cNvPr id="6" name="Shape 4"/>
          <p:cNvSpPr/>
          <p:nvPr/>
        </p:nvSpPr>
        <p:spPr>
          <a:xfrm>
            <a:off x="457200" y="1554480"/>
            <a:ext cx="2651760" cy="1078992"/>
          </a:xfrm>
          <a:prstGeom prst="roundRect">
            <a:avLst>
              <a:gd name="adj" fmla="val 5085"/>
            </a:avLst>
          </a:prstGeom>
          <a:solidFill>
            <a:srgbClr val="1B2640"/>
          </a:solidFill>
          <a:ln/>
        </p:spPr>
        <p:txBody>
          <a:bodyPr/>
          <a:lstStyle/>
          <a:p>
            <a:endParaRPr/>
          </a:p>
        </p:txBody>
      </p:sp>
      <p:sp>
        <p:nvSpPr>
          <p:cNvPr id="7" name="Text 5"/>
          <p:cNvSpPr/>
          <p:nvPr/>
        </p:nvSpPr>
        <p:spPr>
          <a:xfrm>
            <a:off x="640080" y="1682496"/>
            <a:ext cx="2286000" cy="292608"/>
          </a:xfrm>
          <a:prstGeom prst="rect">
            <a:avLst/>
          </a:prstGeom>
          <a:noFill/>
          <a:ln/>
        </p:spPr>
        <p:txBody>
          <a:bodyPr wrap="square" lIns="0" tIns="0" rIns="0" bIns="0" rtlCol="0" anchor="ctr"/>
          <a:lstStyle/>
          <a:p>
            <a:pPr marL="0" indent="0">
              <a:buNone/>
            </a:pPr>
            <a:r>
              <a:rPr lang="en-US" sz="1300" b="1" dirty="0">
                <a:solidFill>
                  <a:srgbClr val="3B82F6"/>
                </a:solidFill>
                <a:latin typeface="Inter" pitchFamily="34" charset="0"/>
                <a:ea typeface="Inter" pitchFamily="34" charset="-122"/>
                <a:cs typeface="Inter" pitchFamily="34" charset="-120"/>
              </a:rPr>
              <a:t>events catalog</a:t>
            </a:r>
            <a:endParaRPr lang="en-US" sz="1300" dirty="0"/>
          </a:p>
        </p:txBody>
      </p:sp>
      <p:sp>
        <p:nvSpPr>
          <p:cNvPr id="8" name="Text 6"/>
          <p:cNvSpPr/>
          <p:nvPr/>
        </p:nvSpPr>
        <p:spPr>
          <a:xfrm>
            <a:off x="640080" y="2011680"/>
            <a:ext cx="2331720" cy="54864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cover, capacity &amp; visibility — all in one place</a:t>
            </a:r>
            <a:endParaRPr lang="en-US" sz="1050" dirty="0"/>
          </a:p>
        </p:txBody>
      </p:sp>
      <p:sp>
        <p:nvSpPr>
          <p:cNvPr id="9" name="Shape 7"/>
          <p:cNvSpPr/>
          <p:nvPr/>
        </p:nvSpPr>
        <p:spPr>
          <a:xfrm>
            <a:off x="3291840" y="1554480"/>
            <a:ext cx="2651760" cy="1078992"/>
          </a:xfrm>
          <a:prstGeom prst="roundRect">
            <a:avLst>
              <a:gd name="adj" fmla="val 5085"/>
            </a:avLst>
          </a:prstGeom>
          <a:solidFill>
            <a:srgbClr val="1B2640"/>
          </a:solidFill>
          <a:ln/>
        </p:spPr>
        <p:txBody>
          <a:bodyPr/>
          <a:lstStyle/>
          <a:p>
            <a:endParaRPr/>
          </a:p>
        </p:txBody>
      </p:sp>
      <p:sp>
        <p:nvSpPr>
          <p:cNvPr id="10" name="Text 8"/>
          <p:cNvSpPr/>
          <p:nvPr/>
        </p:nvSpPr>
        <p:spPr>
          <a:xfrm>
            <a:off x="3474720" y="1682496"/>
            <a:ext cx="2286000" cy="292608"/>
          </a:xfrm>
          <a:prstGeom prst="rect">
            <a:avLst/>
          </a:prstGeom>
          <a:noFill/>
          <a:ln/>
        </p:spPr>
        <p:txBody>
          <a:bodyPr wrap="square" lIns="0" tIns="0" rIns="0" bIns="0" rtlCol="0" anchor="ctr"/>
          <a:lstStyle/>
          <a:p>
            <a:pPr marL="0" indent="0">
              <a:buNone/>
            </a:pPr>
            <a:r>
              <a:rPr lang="en-US" sz="1300" b="1" dirty="0">
                <a:solidFill>
                  <a:srgbClr val="3B82F6"/>
                </a:solidFill>
                <a:latin typeface="Inter" pitchFamily="34" charset="0"/>
                <a:ea typeface="Inter" pitchFamily="34" charset="-122"/>
                <a:cs typeface="Inter" pitchFamily="34" charset="-120"/>
              </a:rPr>
              <a:t>insights &amp; readiness</a:t>
            </a:r>
            <a:endParaRPr lang="en-US" sz="1300" dirty="0"/>
          </a:p>
        </p:txBody>
      </p:sp>
      <p:sp>
        <p:nvSpPr>
          <p:cNvPr id="11" name="Text 9"/>
          <p:cNvSpPr/>
          <p:nvPr/>
        </p:nvSpPr>
        <p:spPr>
          <a:xfrm>
            <a:off x="3474720" y="2011680"/>
            <a:ext cx="2331720" cy="54864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response rates, capacity &amp; what's still missing</a:t>
            </a:r>
            <a:endParaRPr lang="en-US" sz="1050" dirty="0"/>
          </a:p>
        </p:txBody>
      </p:sp>
      <p:sp>
        <p:nvSpPr>
          <p:cNvPr id="12" name="Shape 10"/>
          <p:cNvSpPr/>
          <p:nvPr/>
        </p:nvSpPr>
        <p:spPr>
          <a:xfrm>
            <a:off x="6126480" y="1554480"/>
            <a:ext cx="2651760" cy="1078992"/>
          </a:xfrm>
          <a:prstGeom prst="roundRect">
            <a:avLst>
              <a:gd name="adj" fmla="val 5085"/>
            </a:avLst>
          </a:prstGeom>
          <a:solidFill>
            <a:srgbClr val="1B2640"/>
          </a:solidFill>
          <a:ln/>
        </p:spPr>
        <p:txBody>
          <a:bodyPr/>
          <a:lstStyle/>
          <a:p>
            <a:endParaRPr/>
          </a:p>
        </p:txBody>
      </p:sp>
      <p:sp>
        <p:nvSpPr>
          <p:cNvPr id="13" name="Text 11"/>
          <p:cNvSpPr/>
          <p:nvPr/>
        </p:nvSpPr>
        <p:spPr>
          <a:xfrm>
            <a:off x="6309360" y="1682496"/>
            <a:ext cx="2286000" cy="292608"/>
          </a:xfrm>
          <a:prstGeom prst="rect">
            <a:avLst/>
          </a:prstGeom>
          <a:noFill/>
          <a:ln/>
        </p:spPr>
        <p:txBody>
          <a:bodyPr wrap="square" lIns="0" tIns="0" rIns="0" bIns="0" rtlCol="0" anchor="ctr"/>
          <a:lstStyle/>
          <a:p>
            <a:pPr marL="0" indent="0">
              <a:buNone/>
            </a:pPr>
            <a:r>
              <a:rPr lang="en-US" sz="1300" b="1" dirty="0">
                <a:solidFill>
                  <a:srgbClr val="3B82F6"/>
                </a:solidFill>
                <a:latin typeface="Inter" pitchFamily="34" charset="0"/>
                <a:ea typeface="Inter" pitchFamily="34" charset="-122"/>
                <a:cs typeface="Inter" pitchFamily="34" charset="-120"/>
              </a:rPr>
              <a:t>guests &amp; RSVPs</a:t>
            </a:r>
            <a:endParaRPr lang="en-US" sz="1300" dirty="0"/>
          </a:p>
        </p:txBody>
      </p:sp>
      <p:sp>
        <p:nvSpPr>
          <p:cNvPr id="14" name="Text 12"/>
          <p:cNvSpPr/>
          <p:nvPr/>
        </p:nvSpPr>
        <p:spPr>
          <a:xfrm>
            <a:off x="6309360" y="2011680"/>
            <a:ext cx="2331720" cy="54864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+1s, dietary, waitlists, check-in, CSV in / out</a:t>
            </a:r>
            <a:endParaRPr lang="en-US" sz="1050" dirty="0"/>
          </a:p>
        </p:txBody>
      </p:sp>
      <p:sp>
        <p:nvSpPr>
          <p:cNvPr id="15" name="Shape 13"/>
          <p:cNvSpPr/>
          <p:nvPr/>
        </p:nvSpPr>
        <p:spPr>
          <a:xfrm>
            <a:off x="457200" y="2788920"/>
            <a:ext cx="2651760" cy="1078992"/>
          </a:xfrm>
          <a:prstGeom prst="roundRect">
            <a:avLst>
              <a:gd name="adj" fmla="val 5085"/>
            </a:avLst>
          </a:prstGeom>
          <a:solidFill>
            <a:srgbClr val="1B2640"/>
          </a:solidFill>
          <a:ln/>
        </p:spPr>
        <p:txBody>
          <a:bodyPr/>
          <a:lstStyle/>
          <a:p>
            <a:endParaRPr/>
          </a:p>
        </p:txBody>
      </p:sp>
      <p:sp>
        <p:nvSpPr>
          <p:cNvPr id="16" name="Text 14"/>
          <p:cNvSpPr/>
          <p:nvPr/>
        </p:nvSpPr>
        <p:spPr>
          <a:xfrm>
            <a:off x="640080" y="2916936"/>
            <a:ext cx="2286000" cy="292608"/>
          </a:xfrm>
          <a:prstGeom prst="rect">
            <a:avLst/>
          </a:prstGeom>
          <a:noFill/>
          <a:ln/>
        </p:spPr>
        <p:txBody>
          <a:bodyPr wrap="square" lIns="0" tIns="0" rIns="0" bIns="0" rtlCol="0" anchor="ctr"/>
          <a:lstStyle/>
          <a:p>
            <a:pPr marL="0" indent="0">
              <a:buNone/>
            </a:pPr>
            <a:r>
              <a:rPr lang="en-US" sz="1300" b="1" dirty="0">
                <a:solidFill>
                  <a:srgbClr val="3B82F6"/>
                </a:solidFill>
                <a:latin typeface="Inter" pitchFamily="34" charset="0"/>
                <a:ea typeface="Inter" pitchFamily="34" charset="-122"/>
                <a:cs typeface="Inter" pitchFamily="34" charset="-120"/>
              </a:rPr>
              <a:t>audit worker</a:t>
            </a:r>
            <a:endParaRPr lang="en-US" sz="1300" dirty="0"/>
          </a:p>
        </p:txBody>
      </p:sp>
      <p:sp>
        <p:nvSpPr>
          <p:cNvPr id="17" name="Text 15"/>
          <p:cNvSpPr/>
          <p:nvPr/>
        </p:nvSpPr>
        <p:spPr>
          <a:xfrm>
            <a:off x="640080" y="3246120"/>
            <a:ext cx="2331720" cy="54864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scans each event · checks readiness · drafts fixes</a:t>
            </a:r>
            <a:endParaRPr lang="en-US" sz="1050" dirty="0"/>
          </a:p>
        </p:txBody>
      </p:sp>
      <p:sp>
        <p:nvSpPr>
          <p:cNvPr id="18" name="Shape 16"/>
          <p:cNvSpPr/>
          <p:nvPr/>
        </p:nvSpPr>
        <p:spPr>
          <a:xfrm>
            <a:off x="3291840" y="2788920"/>
            <a:ext cx="2651760" cy="1078992"/>
          </a:xfrm>
          <a:prstGeom prst="roundRect">
            <a:avLst>
              <a:gd name="adj" fmla="val 5085"/>
            </a:avLst>
          </a:prstGeom>
          <a:solidFill>
            <a:srgbClr val="1B2640"/>
          </a:solidFill>
          <a:ln/>
        </p:spPr>
        <p:txBody>
          <a:bodyPr/>
          <a:lstStyle/>
          <a:p>
            <a:endParaRPr/>
          </a:p>
        </p:txBody>
      </p:sp>
      <p:sp>
        <p:nvSpPr>
          <p:cNvPr id="19" name="Text 17"/>
          <p:cNvSpPr/>
          <p:nvPr/>
        </p:nvSpPr>
        <p:spPr>
          <a:xfrm>
            <a:off x="3474720" y="2916936"/>
            <a:ext cx="2286000" cy="292608"/>
          </a:xfrm>
          <a:prstGeom prst="rect">
            <a:avLst/>
          </a:prstGeom>
          <a:noFill/>
          <a:ln/>
        </p:spPr>
        <p:txBody>
          <a:bodyPr wrap="square" lIns="0" tIns="0" rIns="0" bIns="0" rtlCol="0" anchor="ctr"/>
          <a:lstStyle/>
          <a:p>
            <a:pPr marL="0" indent="0">
              <a:buNone/>
            </a:pPr>
            <a:r>
              <a:rPr lang="en-US" sz="1300" b="1" dirty="0">
                <a:solidFill>
                  <a:srgbClr val="3B82F6"/>
                </a:solidFill>
                <a:latin typeface="Inter" pitchFamily="34" charset="0"/>
                <a:ea typeface="Inter" pitchFamily="34" charset="-122"/>
                <a:cs typeface="Inter" pitchFamily="34" charset="-120"/>
              </a:rPr>
              <a:t>work-readiness agent</a:t>
            </a:r>
            <a:endParaRPr lang="en-US" sz="1300" dirty="0"/>
          </a:p>
        </p:txBody>
      </p:sp>
      <p:sp>
        <p:nvSpPr>
          <p:cNvPr id="20" name="Text 18"/>
          <p:cNvSpPr/>
          <p:nvPr/>
        </p:nvSpPr>
        <p:spPr>
          <a:xfrm>
            <a:off x="3474720" y="3246120"/>
            <a:ext cx="2331720" cy="54864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picks gaps · opens fixes back to your events</a:t>
            </a:r>
            <a:endParaRPr lang="en-US" sz="1050" dirty="0"/>
          </a:p>
        </p:txBody>
      </p:sp>
      <p:sp>
        <p:nvSpPr>
          <p:cNvPr id="21" name="Text 19"/>
          <p:cNvSpPr/>
          <p:nvPr/>
        </p:nvSpPr>
        <p:spPr>
          <a:xfrm>
            <a:off x="457200" y="4114800"/>
            <a:ext cx="8229600" cy="320040"/>
          </a:xfrm>
          <a:prstGeom prst="rect">
            <a:avLst/>
          </a:prstGeom>
          <a:noFill/>
          <a:ln/>
        </p:spPr>
        <p:txBody>
          <a:bodyPr wrap="square" lIns="0" tIns="0" rIns="0" bIns="0" rtlCol="0" anchor="ctr"/>
          <a:lstStyle/>
          <a:p>
            <a:pPr marL="0" indent="0" algn="ctr">
              <a:buNone/>
            </a:pPr>
            <a:r>
              <a:rPr lang="en-US" sz="1050" dirty="0">
                <a:solidFill>
                  <a:srgbClr val="64748B"/>
                </a:solidFill>
                <a:latin typeface="Menlo" pitchFamily="34" charset="0"/>
                <a:ea typeface="Menlo" pitchFamily="34" charset="-122"/>
                <a:cs typeface="Menlo" pitchFamily="34" charset="-120"/>
              </a:rPr>
              <a:t>FastAPI · Next.js · Claude Sonnet 4.6</a:t>
            </a:r>
            <a:endParaRPr lang="en-US" sz="1050" dirty="0"/>
          </a:p>
        </p:txBody>
      </p:sp>
      <p:sp>
        <p:nvSpPr>
          <p:cNvPr id="22" name="Shape 13"/>
          <p:cNvSpPr/>
          <p:nvPr/>
        </p:nvSpPr>
        <p:spPr>
          <a:xfrm>
            <a:off x="6126480" y="2788920"/>
            <a:ext cx="2651760" cy="1078992"/>
          </a:xfrm>
          <a:prstGeom prst="roundRect">
            <a:avLst>
              <a:gd name="adj" fmla="val 5085"/>
            </a:avLst>
          </a:prstGeom>
          <a:solidFill>
            <a:srgbClr val="1B2640"/>
          </a:solidFill>
          <a:ln/>
        </p:spPr>
        <p:txBody>
          <a:bodyPr/>
          <a:lstStyle/>
          <a:p>
            <a:endParaRPr/>
          </a:p>
        </p:txBody>
      </p:sp>
      <p:sp>
        <p:nvSpPr>
          <p:cNvPr id="23" name="Text 14"/>
          <p:cNvSpPr/>
          <p:nvPr/>
        </p:nvSpPr>
        <p:spPr>
          <a:xfrm>
            <a:off x="6309360" y="2916936"/>
            <a:ext cx="2286000" cy="292608"/>
          </a:xfrm>
          <a:prstGeom prst="rect">
            <a:avLst/>
          </a:prstGeom>
          <a:noFill/>
          <a:ln/>
        </p:spPr>
        <p:txBody>
          <a:bodyPr wrap="square" lIns="0" tIns="0" rIns="0" bIns="0" rtlCol="0" anchor="ctr"/>
          <a:lstStyle/>
          <a:p>
            <a:pPr marL="0" indent="0">
              <a:buNone/>
            </a:pPr>
            <a:r>
              <a:rPr lang="en-US" sz="1300" b="1" dirty="0">
                <a:solidFill>
                  <a:srgbClr val="3B82F6"/>
                </a:solidFill>
                <a:latin typeface="Inter" pitchFamily="34" charset="0"/>
                <a:ea typeface="Inter" pitchFamily="34" charset="-122"/>
                <a:cs typeface="Inter" pitchFamily="34" charset="-120"/>
              </a:rPr>
              <a:t>Free &amp; Pro plans</a:t>
            </a:r>
            <a:endParaRPr lang="en-US" sz="1300" dirty="0"/>
          </a:p>
        </p:txBody>
      </p:sp>
      <p:sp>
        <p:nvSpPr>
          <p:cNvPr id="24" name="Text 15"/>
          <p:cNvSpPr/>
          <p:nvPr/>
        </p:nvSpPr>
        <p:spPr>
          <a:xfrm>
            <a:off x="6309360" y="3246120"/>
            <a:ext cx="2331720" cy="54864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usage limits, upgrades &amp; Stripe-ready billing</a:t>
            </a:r>
            <a:endParaRPr lang="en-US" sz="1050" dirty="0"/>
          </a:p>
        </p:txBody>
      </p:sp>
    </p:spTree>
  </p:cSld>
  <p:clrMapOvr>
    <a:masterClrMapping/>
  </p:clrMapOvr>
</p:sld>
</file>

<file path=ppt/slides/slide15.xml><?xml version="1.0" encoding="UTF-8" standalone="yes"?>
<p:sld xmlns:a="http://schemas.openxmlformats.org/drawingml/2006/main" xmlns:r="http://schemas.openxmlformats.org/officeDocument/2006/relationships" xmlns:p="http://schemas.openxmlformats.org/presentationml/2006/main"><p:cSld name="Slide 15"><p:bg><p:bgPr><a:solidFill><a:srgbClr val="0F1729"/></a:solidFill><a:effectLst/></p:bgPr></p:bg><p:spTree><p:nvGrpSpPr><p:cNvPr id="1" name=""/><p:cNvGrpSpPr/><p:nvPr/></p:nvGrpSpPr><p:grpSpPr><a:xfrm><a:off x="0" y="0"/><a:ext cx="0" cy="0"/><a:chOff x="0" y="0"/><a:chExt cx="0" cy="0"/></a:xfrm></p:grpSpPr><p:sp><p:nvSpPr><p:cNvPr id="2" name="Text 0"/><p:cNvSpPr/><p:nvPr/></p:nvSpPr><p:spPr><a:xfrm><a:off x="457200" y="4796028"/><a:ext cx="4572000" cy="274320"/></a:xfrm><a:prstGeom prst="rect"><a:avLst/></a:prstGeom><a:noFill/><a:ln/></p:spPr><p:txBody><a:bodyPr wrap="square" lIns="0" tIns="0" rIns="0" bIns="0" rtlCol="0" anchor="ctr"/><a:lstStyle/><a:p><a:pPr marL="0" indent="0"><a:buNone/></a:pPr><a:r><a:rPr lang="en-US" sz="800" kern="0" spc="200" dirty="0"><a:solidFill><a:srgbClr val="64748B"/></a:solidFill><a:latin typeface="Inter" pitchFamily="34" charset="0"/><a:ea typeface="Inter" pitchFamily="34" charset="-122"/><a:cs typeface="Inter" pitchFamily="34" charset="-120"/></a:rPr><a:t>03 · demo · moment 1</a:t></a:r><a:endParaRPr lang="en-US" sz="800" dirty="0"/></a:p></p:txBody></p:sp><p:sp><p:nvSpPr><p:cNvPr id="3" name="Text 1"/><p:cNvSpPr/><p:nvPr/></p:nvSpPr><p:spPr><a:xfrm><a:off x="8229600" y="4796028"/><a:ext cx="457200" cy="274320"/></a:xfrm><a:prstGeom prst="rect"><a:avLst/></a:prstGeom><a:noFill/><a:ln/></p:spPr><p:txBody><a:bodyPr wrap="square" lIns="0" tIns="0" rIns="0" bIns="0" rtlCol="0" anchor="ctr"/><a:lstStyle/><a:p><a:pPr marL="0" indent="0" algn="r"><a:buNone/></a:pPr><a:r><a:rPr lang="en-US" sz="800" dirty="0"><a:solidFill><a:srgbClr val="64748B"/></a:solidFill><a:latin typeface="Inter" pitchFamily="34" charset="0"/><a:ea typeface="Inter" pitchFamily="34" charset="-122"/><a:cs typeface="Inter" pitchFamily="34" charset="-120"/></a:rPr><a:t>15</a:t></a:r><a:endParaRPr lang="en-US" sz="800" dirty="0"/></a:p></p:txBody></p:sp><p:sp><p:nvSpPr><p:cNvPr id="4" name="Text 2"/><p:cNvSpPr/><p:nvPr/></p:nvSpPr><p:spPr><a:xfrm><a:off x="457200" y="384048"/><a:ext cx="8229600" cy="274320"/></a:xfrm><a:prstGeom prst="rect"><a:avLst/></a:prstGeom><a:noFill/><a:ln/></p:spPr><p:txBody><a:bodyPr wrap="square" lIns="0" tIns="0" rIns="0" bIns="0" rtlCol="0" anchor="ctr"/><a:lstStyle/><a:p><a:pPr marL="0" indent="0"><a:buNone/></a:pPr><a:r><a:rPr lang="en-US" sz="1000" b="1" kern="0" spc="300" dirty="0"><a:solidFill><a:srgbClr val="FBBF24"/></a:solidFill><a:latin typeface="Inter" pitchFamily="34" charset="0"/><a:ea typeface="Inter" pitchFamily="34" charset="-122"/><a:cs typeface="Inter" pitchFamily="34" charset="-120"/></a:rPr><a:t>MOMENT 1 OF 3</a:t></a:r><a:endParaRPr lang="en-US" sz="1000" dirty="0"/></a:p></p:txBody></p:sp><p:sp><p:nvSpPr><p:cNvPr id="5" name="Text 3"/><p:cNvSpPr/><p:nvPr/></p:nvSpPr><p:spPr><a:xfrm><a:off x="457200" y="1371600"/><a:ext cx="8229600" cy="731520"/></a:xfrm><a:prstGeom prst="rect"><a:avLst/></a:prstGeom><a:noFill/><a:ln/></p:spPr><p:txBody><a:bodyPr wrap="square" lIns="0" tIns="0" rIns="0" bIns="0" rtlCol="0" anchor="ctr"/><a:lstStyle/><a:p><a:pPr marL="0" indent="0"><a:buNone/></a:pPr><a:r><a:rPr lang="en-US" sz="3600" b="1" dirty="0"><a:solidFill><a:srgbClr val="F8FAFC"/></a:solidFill><a:latin typeface="Montserrat" pitchFamily="34" charset="0"/><a:ea typeface="Inter" pitchFamily="34" charset="-122"/><a:cs typeface="Inter" pitchFamily="34" charset="-120"/></a:rPr><a:t>watch the team assemble</a:t></a:r><a:endParaRPr lang="en-US" sz="3600" dirty="0"/></a:p></p:txBody></p:sp><p:sp><p:nvSpPr><p:cNvPr id="6" name="Shape 4"/><p:cNvSpPr/><p:nvPr/></p:nvSpPr><p:spPr><a:xfrm><a:off x="457200" y="2331720"/><a:ext cx="8229600" cy="777240"/></a:xfrm><a:prstGeom prst="roundRect"><a:avLst><a:gd name="adj" fmla="val 7059"/></a:avLst></a:prstGeom><a:solidFill><a:srgbClr val="0A101F"/></a:solidFill><a:ln/></p:spPr><p:txBody><a:bodyPr/><a:lstStyle/><a:p><a:endParaRPr/></a:p></p:txBody></p:sp><p:sp><p:nvSpPr><p:cNvPr id="7" name="Text 5"/><p:cNvSpPr/><p:nvPr/></p:nvSpPr><p:spPr><a:xfrm><a:off x="640080" y="2331720"/><a:ext cx="7863840" cy="777240"/></a:xfrm><a:prstGeom prst="rect"><a:avLst/></a:prstGeom><a:noFill/><a:ln/></p:spPr><p:txBody><a:bodyPr wrap="square" lIns="0" tIns="0" rIns="0" bIns="0" rtlCol="0" anchor="ctr"/><a:lstStyle/><a:p><a:pPr marL="0" indent="0"><a:buNone/></a:pPr><a:r><a:rPr lang="en-US" sz="1200" dirty="0"><a:solidFill><a:srgbClr val="34D399"/></a:solidFill><a:latin typeface="Menlo" pitchFamily="34" charset="0"/><a:ea typeface="Menlo" pitchFamily="34" charset="-122"/><a:cs typeface="Menlo" pitchFamily="34" charset="-120"/></a:rPr><a:t>$ /implement  auto-promote the next waitlisted guest when a confirmed guest cancels</a:t></a:r><a:endParaRPr lang="en-US" sz="1200" dirty="0"/></a:p><a:p><a:pPr marL="0" indent="0"><a:buNone/></a:pPr><a:r><a:rPr lang="en-US" sz="1000" dirty="0"><a:solidFill><a:srgbClr val="94A3B8"/></a:solidFill><a:latin typeface="Menlo" pitchFamily="34" charset="0"/><a:ea typeface="Menlo" pitchFamily="34" charset="-122"/><a:cs typeface="Menlo" pitchFamily="34" charset="-120"/></a:rPr><a:t>→ the team: code-reviewer · security-auditor · test-writer  (in parallel)</a:t><a:endParaRPr lang="en-US" sz="1000" dirty="0"/></a:p></p:txBody></p:sp></p:spTree></p:cSld><p:clrMapOvr><a:masterClrMapping/></p:clrMapOvr></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03 · demo · moment 2</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16</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FBBF24"/>
                </a:solidFill>
                <a:latin typeface="Inter" pitchFamily="34" charset="0"/>
                <a:ea typeface="Inter" pitchFamily="34" charset="-122"/>
                <a:cs typeface="Inter" pitchFamily="34" charset="-120"/>
              </a:rPr>
              <a:t>MOMENT 2 OF 3</a:t>
            </a:r>
            <a:endParaRPr lang="en-US" sz="1000" dirty="0"/>
          </a:p>
        </p:txBody>
      </p:sp>
      <p:sp>
        <p:nvSpPr>
          <p:cNvPr id="5" name="Text 3"/>
          <p:cNvSpPr/>
          <p:nvPr/>
        </p:nvSpPr>
        <p:spPr>
          <a:xfrm>
            <a:off x="457200" y="1371600"/>
            <a:ext cx="8229600" cy="731520"/>
          </a:xfrm>
          <a:prstGeom prst="rect">
            <a:avLst/>
          </a:prstGeom>
          <a:noFill/>
          <a:ln/>
        </p:spPr>
        <p:txBody>
          <a:bodyPr wrap="square" lIns="0" tIns="0" rIns="0" bIns="0" rtlCol="0" anchor="ctr"/>
          <a:lstStyle/>
          <a:p>
            <a:pPr marL="0" indent="0">
              <a:buNone/>
            </a:pPr>
            <a:r>
              <a:rPr lang="en-US" sz="3600" b="1" dirty="0">
                <a:solidFill>
                  <a:srgbClr val="F8FAFC"/>
                </a:solidFill>
                <a:latin typeface="Montserrat" pitchFamily="34" charset="0"/>
                <a:ea typeface="Inter" pitchFamily="34" charset="-122"/>
                <a:cs typeface="Inter" pitchFamily="34" charset="-120"/>
              </a:rPr>
              <a:t>resilience</a:t>
            </a:r>
            <a:endParaRPr lang="en-US" sz="3600" dirty="0"/>
          </a:p>
        </p:txBody>
      </p:sp>
      <p:sp>
        <p:nvSpPr>
          <p:cNvPr id="6" name="Text 4"/>
          <p:cNvSpPr/>
          <p:nvPr/>
        </p:nvSpPr>
        <p:spPr>
          <a:xfrm>
            <a:off x="457200" y="2194560"/>
            <a:ext cx="8229600" cy="411480"/>
          </a:xfrm>
          <a:prstGeom prst="rect">
            <a:avLst/>
          </a:prstGeom>
          <a:noFill/>
          <a:ln/>
        </p:spPr>
        <p:txBody>
          <a:bodyPr wrap="square" lIns="0" tIns="0" rIns="0" bIns="0" rtlCol="0" anchor="ctr"/>
          <a:lstStyle/>
          <a:p>
            <a:pPr marL="0" indent="0">
              <a:buNone/>
            </a:pPr>
            <a:r>
              <a:rPr lang="en-US" sz="1600" dirty="0">
                <a:solidFill>
                  <a:srgbClr val="94A3B8"/>
                </a:solidFill>
                <a:latin typeface="Inter" pitchFamily="34" charset="0"/>
                <a:ea typeface="Inter" pitchFamily="34" charset="-122"/>
                <a:cs typeface="Inter" pitchFamily="34" charset="-120"/>
              </a:rPr>
              <a:t>what happens when the system makes a mistake?</a:t>
            </a:r>
            <a:endParaRPr lang="en-US" sz="1600" dirty="0"/>
          </a:p>
        </p:txBody>
      </p:sp>
      <p:sp>
        <p:nvSpPr>
          <p:cNvPr id="7" name="Text 5"/>
          <p:cNvSpPr/>
          <p:nvPr/>
        </p:nvSpPr>
        <p:spPr>
          <a:xfrm>
            <a:off x="457200" y="2834640"/>
            <a:ext cx="8229600" cy="411480"/>
          </a:xfrm>
          <a:prstGeom prst="rect">
            <a:avLst/>
          </a:prstGeom>
          <a:noFill/>
          <a:ln/>
        </p:spPr>
        <p:txBody>
          <a:bodyPr wrap="square" lIns="0" tIns="0" rIns="0" bIns="0" rtlCol="0" anchor="ctr"/>
          <a:lstStyle/>
          <a:p>
            <a:pPr marL="0" indent="0">
              <a:buNone/>
            </a:pPr>
            <a:r>
              <a:rPr lang="en-US" sz="1100" b="1" dirty="0">
                <a:solidFill>
                  <a:srgbClr val="FBBF24"/>
                </a:solidFill>
                <a:latin typeface="Inter" pitchFamily="34" charset="0"/>
                <a:ea typeface="Inter" pitchFamily="34" charset="-122"/>
                <a:cs typeface="Inter" pitchFamily="34" charset="-120"/>
              </a:rPr>
              <a:t>PRE-STAGED   a guest could read another host's guest list</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03 · demo · moment 3</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17</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FBBF24"/>
                </a:solidFill>
                <a:latin typeface="Inter" pitchFamily="34" charset="0"/>
                <a:ea typeface="Inter" pitchFamily="34" charset="-122"/>
                <a:cs typeface="Inter" pitchFamily="34" charset="-120"/>
              </a:rPr>
              <a:t>MOMENT 3 OF 3</a:t>
            </a:r>
            <a:endParaRPr lang="en-US" sz="1000" dirty="0"/>
          </a:p>
        </p:txBody>
      </p:sp>
      <p:sp>
        <p:nvSpPr>
          <p:cNvPr id="5" name="Text 3"/>
          <p:cNvSpPr/>
          <p:nvPr/>
        </p:nvSpPr>
        <p:spPr>
          <a:xfrm>
            <a:off x="457200" y="1371600"/>
            <a:ext cx="8229600" cy="731520"/>
          </a:xfrm>
          <a:prstGeom prst="rect">
            <a:avLst/>
          </a:prstGeom>
          <a:noFill/>
          <a:ln/>
        </p:spPr>
        <p:txBody>
          <a:bodyPr wrap="square" lIns="0" tIns="0" rIns="0" bIns="0" rtlCol="0" anchor="ctr"/>
          <a:lstStyle/>
          <a:p>
            <a:pPr marL="0" indent="0">
              <a:buNone/>
            </a:pPr>
            <a:r>
              <a:rPr lang="en-US" sz="3600" b="1" dirty="0">
                <a:solidFill>
                  <a:srgbClr val="F8FAFC"/>
                </a:solidFill>
                <a:latin typeface="Montserrat" pitchFamily="34" charset="0"/>
                <a:ea typeface="Inter" pitchFamily="34" charset="-122"/>
                <a:cs typeface="Inter" pitchFamily="34" charset="-120"/>
              </a:rPr>
              <a:t>full autonomy — the team works overnight</a:t>
            </a:r>
            <a:endParaRPr lang="en-US" sz="3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04 · where to start</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18</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3B82F6"/>
                </a:solidFill>
                <a:latin typeface="Inter" pitchFamily="34" charset="0"/>
                <a:ea typeface="Inter" pitchFamily="34" charset="-122"/>
                <a:cs typeface="Inter" pitchFamily="34" charset="-120"/>
              </a:rPr>
              <a:t>04 · WHERE TO START</a:t>
            </a:r>
            <a:endParaRPr lang="en-US" sz="1000" dirty="0"/>
          </a:p>
        </p:txBody>
      </p:sp>
      <p:sp>
        <p:nvSpPr>
          <p:cNvPr id="5" name="Text 3"/>
          <p:cNvSpPr/>
          <p:nvPr/>
        </p:nvSpPr>
        <p:spPr>
          <a:xfrm>
            <a:off x="457200" y="713232"/>
            <a:ext cx="8229600" cy="640080"/>
          </a:xfrm>
          <a:prstGeom prst="rect">
            <a:avLst/>
          </a:prstGeom>
          <a:noFill/>
          <a:ln/>
        </p:spPr>
        <p:txBody>
          <a:bodyPr wrap="square" lIns="0" tIns="0" rIns="0" bIns="0" rtlCol="0" anchor="ctr"/>
          <a:lstStyle/>
          <a:p>
            <a:pPr marL="0" indent="0">
              <a:buNone/>
            </a:pPr>
            <a:r>
              <a:rPr lang="en-US" sz="2800" b="1" dirty="0">
                <a:solidFill>
                  <a:srgbClr val="F8FAFC"/>
                </a:solidFill>
                <a:latin typeface="Montserrat" pitchFamily="34" charset="0"/>
                <a:ea typeface="Inter" pitchFamily="34" charset="-122"/>
                <a:cs typeface="Inter" pitchFamily="34" charset="-120"/>
              </a:rPr>
              <a:t>start Monday</a:t>
            </a:r>
            <a:endParaRPr lang="en-US" sz="2800" dirty="0"/>
          </a:p>
        </p:txBody>
      </p:sp>
      <p:sp>
        <p:nvSpPr>
          <p:cNvPr id="6" name="Text 4"/>
          <p:cNvSpPr/>
          <p:nvPr/>
        </p:nvSpPr>
        <p:spPr>
          <a:xfrm>
            <a:off x="640080" y="1600200"/>
            <a:ext cx="457200" cy="365760"/>
          </a:xfrm>
          <a:prstGeom prst="rect">
            <a:avLst/>
          </a:prstGeom>
          <a:noFill/>
          <a:ln/>
        </p:spPr>
        <p:txBody>
          <a:bodyPr wrap="square" lIns="0" tIns="0" rIns="0" bIns="0" rtlCol="0" anchor="ctr"/>
          <a:lstStyle/>
          <a:p>
            <a:pPr marL="0" indent="0">
              <a:buNone/>
            </a:pPr>
            <a:r>
              <a:rPr lang="en-US" sz="1800" b="1" dirty="0">
                <a:solidFill>
                  <a:srgbClr val="3B82F6"/>
                </a:solidFill>
                <a:latin typeface="Inter" pitchFamily="34" charset="0"/>
                <a:ea typeface="Inter" pitchFamily="34" charset="-122"/>
                <a:cs typeface="Inter" pitchFamily="34" charset="-120"/>
              </a:rPr>
              <a:t>1</a:t>
            </a:r>
            <a:endParaRPr lang="en-US" sz="1800" dirty="0"/>
          </a:p>
        </p:txBody>
      </p:sp>
      <p:sp>
        <p:nvSpPr>
          <p:cNvPr id="7" name="Text 5"/>
          <p:cNvSpPr/>
          <p:nvPr/>
        </p:nvSpPr>
        <p:spPr>
          <a:xfrm>
            <a:off x="1234440" y="1600200"/>
            <a:ext cx="4389120" cy="365760"/>
          </a:xfrm>
          <a:prstGeom prst="rect">
            <a:avLst/>
          </a:prstGeom>
          <a:noFill/>
          <a:ln/>
        </p:spPr>
        <p:txBody>
          <a:bodyPr wrap="square" lIns="0" tIns="0" rIns="0" bIns="0" rtlCol="0" anchor="ctr"/>
          <a:lstStyle/>
          <a:p>
            <a:pPr marL="0" indent="0">
              <a:buNone/>
            </a:pPr>
            <a:r>
              <a:rPr lang="en-US" sz="1450" b="1" dirty="0">
                <a:solidFill>
                  <a:srgbClr val="F8FAFC"/>
                </a:solidFill>
                <a:latin typeface="Inter" pitchFamily="34" charset="0"/>
                <a:ea typeface="Inter" pitchFamily="34" charset="-122"/>
                <a:cs typeface="Inter" pitchFamily="34" charset="-120"/>
              </a:rPr>
              <a:t>pick one workflow you do weekly</a:t>
            </a:r>
            <a:endParaRPr lang="en-US" sz="1450" dirty="0"/>
          </a:p>
        </p:txBody>
      </p:sp>
      <p:sp>
        <p:nvSpPr>
          <p:cNvPr id="8" name="Text 6"/>
          <p:cNvSpPr/>
          <p:nvPr/>
        </p:nvSpPr>
        <p:spPr>
          <a:xfrm>
            <a:off x="5669280" y="1636776"/>
            <a:ext cx="3017520" cy="50292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PR review · ticket triage · audit · reporting</a:t>
            </a:r>
            <a:endParaRPr lang="en-US" sz="1050" dirty="0"/>
          </a:p>
        </p:txBody>
      </p:sp>
      <p:sp>
        <p:nvSpPr>
          <p:cNvPr id="9" name="Text 7"/>
          <p:cNvSpPr/>
          <p:nvPr/>
        </p:nvSpPr>
        <p:spPr>
          <a:xfrm>
            <a:off x="640080" y="2203704"/>
            <a:ext cx="457200" cy="365760"/>
          </a:xfrm>
          <a:prstGeom prst="rect">
            <a:avLst/>
          </a:prstGeom>
          <a:noFill/>
          <a:ln/>
        </p:spPr>
        <p:txBody>
          <a:bodyPr wrap="square" lIns="0" tIns="0" rIns="0" bIns="0" rtlCol="0" anchor="ctr"/>
          <a:lstStyle/>
          <a:p>
            <a:pPr marL="0" indent="0">
              <a:buNone/>
            </a:pPr>
            <a:r>
              <a:rPr lang="en-US" sz="1800" b="1" dirty="0">
                <a:solidFill>
                  <a:srgbClr val="3B82F6"/>
                </a:solidFill>
                <a:latin typeface="Inter" pitchFamily="34" charset="0"/>
                <a:ea typeface="Inter" pitchFamily="34" charset="-122"/>
                <a:cs typeface="Inter" pitchFamily="34" charset="-120"/>
              </a:rPr>
              <a:t>2</a:t>
            </a:r>
            <a:endParaRPr lang="en-US" sz="1800" dirty="0"/>
          </a:p>
        </p:txBody>
      </p:sp>
      <p:sp>
        <p:nvSpPr>
          <p:cNvPr id="10" name="Text 8"/>
          <p:cNvSpPr/>
          <p:nvPr/>
        </p:nvSpPr>
        <p:spPr>
          <a:xfrm>
            <a:off x="1234440" y="2203704"/>
            <a:ext cx="4389120" cy="365760"/>
          </a:xfrm>
          <a:prstGeom prst="rect">
            <a:avLst/>
          </a:prstGeom>
          <a:noFill/>
          <a:ln/>
        </p:spPr>
        <p:txBody>
          <a:bodyPr wrap="square" lIns="0" tIns="0" rIns="0" bIns="0" rtlCol="0" anchor="ctr"/>
          <a:lstStyle/>
          <a:p>
            <a:pPr marL="0" indent="0">
              <a:buNone/>
            </a:pPr>
            <a:r>
              <a:rPr lang="en-US" sz="1450" b="1" dirty="0">
                <a:solidFill>
                  <a:srgbClr val="F8FAFC"/>
                </a:solidFill>
                <a:latin typeface="Inter" pitchFamily="34" charset="0"/>
                <a:ea typeface="Inter" pitchFamily="34" charset="-122"/>
                <a:cs typeface="Inter" pitchFamily="34" charset="-120"/>
              </a:rPr>
              <a:t>write the SKILL.md for it</a:t>
            </a:r>
            <a:endParaRPr lang="en-US" sz="1450" dirty="0"/>
          </a:p>
        </p:txBody>
      </p:sp>
      <p:sp>
        <p:nvSpPr>
          <p:cNvPr id="11" name="Text 9"/>
          <p:cNvSpPr/>
          <p:nvPr/>
        </p:nvSpPr>
        <p:spPr>
          <a:xfrm>
            <a:off x="5669280" y="2240280"/>
            <a:ext cx="3017520" cy="50292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one file · ~50 lines · name, scope, tools, stopping</a:t>
            </a:r>
            <a:endParaRPr lang="en-US" sz="1050" dirty="0"/>
          </a:p>
        </p:txBody>
      </p:sp>
      <p:sp>
        <p:nvSpPr>
          <p:cNvPr id="12" name="Text 10"/>
          <p:cNvSpPr/>
          <p:nvPr/>
        </p:nvSpPr>
        <p:spPr>
          <a:xfrm>
            <a:off x="640080" y="2807208"/>
            <a:ext cx="457200" cy="365760"/>
          </a:xfrm>
          <a:prstGeom prst="rect">
            <a:avLst/>
          </a:prstGeom>
          <a:noFill/>
          <a:ln/>
        </p:spPr>
        <p:txBody>
          <a:bodyPr wrap="square" lIns="0" tIns="0" rIns="0" bIns="0" rtlCol="0" anchor="ctr"/>
          <a:lstStyle/>
          <a:p>
            <a:pPr marL="0" indent="0">
              <a:buNone/>
            </a:pPr>
            <a:r>
              <a:rPr lang="en-US" sz="1800" b="1" dirty="0">
                <a:solidFill>
                  <a:srgbClr val="3B82F6"/>
                </a:solidFill>
                <a:latin typeface="Inter" pitchFamily="34" charset="0"/>
                <a:ea typeface="Inter" pitchFamily="34" charset="-122"/>
                <a:cs typeface="Inter" pitchFamily="34" charset="-120"/>
              </a:rPr>
              <a:t>3</a:t>
            </a:r>
            <a:endParaRPr lang="en-US" sz="1800" dirty="0"/>
          </a:p>
        </p:txBody>
      </p:sp>
      <p:sp>
        <p:nvSpPr>
          <p:cNvPr id="13" name="Text 11"/>
          <p:cNvSpPr/>
          <p:nvPr/>
        </p:nvSpPr>
        <p:spPr>
          <a:xfrm>
            <a:off x="1234440" y="2807208"/>
            <a:ext cx="4389120" cy="365760"/>
          </a:xfrm>
          <a:prstGeom prst="rect">
            <a:avLst/>
          </a:prstGeom>
          <a:noFill/>
          <a:ln/>
        </p:spPr>
        <p:txBody>
          <a:bodyPr wrap="square" lIns="0" tIns="0" rIns="0" bIns="0" rtlCol="0" anchor="ctr"/>
          <a:lstStyle/>
          <a:p>
            <a:pPr marL="0" indent="0">
              <a:buNone/>
            </a:pPr>
            <a:r>
              <a:rPr lang="en-US" sz="1450" b="1" dirty="0">
                <a:solidFill>
                  <a:srgbClr val="F8FAFC"/>
                </a:solidFill>
                <a:latin typeface="Inter" pitchFamily="34" charset="0"/>
                <a:ea typeface="Inter" pitchFamily="34" charset="-122"/>
                <a:cs typeface="Inter" pitchFamily="34" charset="-120"/>
              </a:rPr>
              <a:t>use it on Tuesday's actual work</a:t>
            </a:r>
            <a:endParaRPr lang="en-US" sz="1450" dirty="0"/>
          </a:p>
        </p:txBody>
      </p:sp>
      <p:sp>
        <p:nvSpPr>
          <p:cNvPr id="14" name="Text 12"/>
          <p:cNvSpPr/>
          <p:nvPr/>
        </p:nvSpPr>
        <p:spPr>
          <a:xfrm>
            <a:off x="5669280" y="2843784"/>
            <a:ext cx="3017520" cy="50292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ship the result — real work, not a sandbox</a:t>
            </a:r>
            <a:endParaRPr lang="en-US" sz="1050" dirty="0"/>
          </a:p>
        </p:txBody>
      </p:sp>
      <p:sp>
        <p:nvSpPr>
          <p:cNvPr id="15" name="Text 13"/>
          <p:cNvSpPr/>
          <p:nvPr/>
        </p:nvSpPr>
        <p:spPr>
          <a:xfrm>
            <a:off x="640080" y="3410712"/>
            <a:ext cx="457200" cy="365760"/>
          </a:xfrm>
          <a:prstGeom prst="rect">
            <a:avLst/>
          </a:prstGeom>
          <a:noFill/>
          <a:ln/>
        </p:spPr>
        <p:txBody>
          <a:bodyPr wrap="square" lIns="0" tIns="0" rIns="0" bIns="0" rtlCol="0" anchor="ctr"/>
          <a:lstStyle/>
          <a:p>
            <a:pPr marL="0" indent="0">
              <a:buNone/>
            </a:pPr>
            <a:r>
              <a:rPr lang="en-US" sz="1800" b="1" dirty="0">
                <a:solidFill>
                  <a:srgbClr val="3B82F6"/>
                </a:solidFill>
                <a:latin typeface="Inter" pitchFamily="34" charset="0"/>
                <a:ea typeface="Inter" pitchFamily="34" charset="-122"/>
                <a:cs typeface="Inter" pitchFamily="34" charset="-120"/>
              </a:rPr>
              <a:t>4</a:t>
            </a:r>
            <a:endParaRPr lang="en-US" sz="1800" dirty="0"/>
          </a:p>
        </p:txBody>
      </p:sp>
      <p:sp>
        <p:nvSpPr>
          <p:cNvPr id="16" name="Text 14"/>
          <p:cNvSpPr/>
          <p:nvPr/>
        </p:nvSpPr>
        <p:spPr>
          <a:xfrm>
            <a:off x="1234440" y="3410712"/>
            <a:ext cx="4389120" cy="365760"/>
          </a:xfrm>
          <a:prstGeom prst="rect">
            <a:avLst/>
          </a:prstGeom>
          <a:noFill/>
          <a:ln/>
        </p:spPr>
        <p:txBody>
          <a:bodyPr wrap="square" lIns="0" tIns="0" rIns="0" bIns="0" rtlCol="0" anchor="ctr"/>
          <a:lstStyle/>
          <a:p>
            <a:pPr marL="0" indent="0">
              <a:buNone/>
            </a:pPr>
            <a:r>
              <a:rPr lang="en-US" sz="1450" b="1" dirty="0">
                <a:solidFill>
                  <a:srgbClr val="F8FAFC"/>
                </a:solidFill>
                <a:latin typeface="Inter" pitchFamily="34" charset="0"/>
                <a:ea typeface="Inter" pitchFamily="34" charset="-122"/>
                <a:cs typeface="Inter" pitchFamily="34" charset="-120"/>
              </a:rPr>
              <a:t>iterate the skill, not the prompt</a:t>
            </a:r>
            <a:endParaRPr lang="en-US" sz="1450" dirty="0"/>
          </a:p>
        </p:txBody>
      </p:sp>
      <p:sp>
        <p:nvSpPr>
          <p:cNvPr id="17" name="Text 15"/>
          <p:cNvSpPr/>
          <p:nvPr/>
        </p:nvSpPr>
        <p:spPr>
          <a:xfrm>
            <a:off x="5669280" y="3447288"/>
            <a:ext cx="3017520" cy="502920"/>
          </a:xfrm>
          <a:prstGeom prst="rect">
            <a:avLst/>
          </a:prstGeom>
          <a:noFill/>
          <a:ln/>
        </p:spPr>
        <p:txBody>
          <a:bodyPr wrap="square" lIns="0" tIns="0" rIns="0" bIns="0" rtlCol="0" anchor="ctr"/>
          <a:lstStyle/>
          <a:p>
            <a:pPr marL="0" indent="0">
              <a:buNone/>
            </a:pPr>
            <a:r>
              <a:rPr lang="en-US" sz="1050" dirty="0">
                <a:solidFill>
                  <a:srgbClr val="94A3B8"/>
                </a:solidFill>
                <a:latin typeface="Inter" pitchFamily="34" charset="0"/>
                <a:ea typeface="Inter" pitchFamily="34" charset="-122"/>
                <a:cs typeface="Inter" pitchFamily="34" charset="-120"/>
              </a:rPr>
              <a:t>the asset compounds with every use</a:t>
            </a:r>
            <a:endParaRPr lang="en-US" sz="1050" dirty="0"/>
          </a:p>
        </p:txBody>
      </p:sp>
      <p:sp>
        <p:nvSpPr>
          <p:cNvPr id="18" name="Text 16"/>
          <p:cNvSpPr/>
          <p:nvPr/>
        </p:nvSpPr>
        <p:spPr>
          <a:xfrm>
            <a:off x="640080" y="4160520"/>
            <a:ext cx="8046720" cy="365760"/>
          </a:xfrm>
          <a:prstGeom prst="rect">
            <a:avLst/>
          </a:prstGeom>
          <a:noFill/>
          <a:ln/>
        </p:spPr>
        <p:txBody>
          <a:bodyPr wrap="square" lIns="0" tIns="0" rIns="0" bIns="0" rtlCol="0" anchor="ctr"/>
          <a:lstStyle/>
          <a:p>
            <a:pPr marL="0" indent="0">
              <a:buNone/>
            </a:pPr>
            <a:r>
              <a:rPr lang="en-US" sz="1350" i="1" dirty="0">
                <a:solidFill>
                  <a:srgbClr val="3B82F6"/>
                </a:solidFill>
                <a:latin typeface="Inter" pitchFamily="34" charset="0"/>
                <a:ea typeface="Inter" pitchFamily="34" charset="-122"/>
                <a:cs typeface="Inter" pitchFamily="34" charset="-120"/>
              </a:rPr>
              <a:t>you don't need a multi-agent platform — you need a CLAUDE.md and a folder of skills</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04 · where to start</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rPr>
              <a:t>19</a:t>
            </a:r>
            <a:endParaRPr lang="en-US" sz="800" dirty="0"/>
          </a:p>
        </p:txBody>
      </p:sp>
      <p:sp>
        <p:nvSpPr>
          <p:cNvPr id="4" name="Text 2"/>
          <p:cNvSpPr/>
          <p:nvPr/>
        </p:nvSpPr>
        <p:spPr>
          <a:xfrm>
            <a:off x="457200" y="1828800"/>
            <a:ext cx="8229600" cy="1554480"/>
          </a:xfrm>
          <a:prstGeom prst="rect">
            <a:avLst/>
          </a:prstGeom>
          <a:noFill/>
          <a:ln/>
        </p:spPr>
        <p:txBody>
          <a:bodyPr wrap="square" lIns="0" tIns="0" rIns="0" bIns="0" rtlCol="0" anchor="ctr"/>
          <a:lstStyle/>
          <a:p>
            <a:pPr marL="0" indent="0">
              <a:lnSpc>
                <a:spcPct val="110000"/>
              </a:lnSpc>
              <a:buNone/>
            </a:pPr>
            <a:r>
              <a:rPr lang="en-US" sz="4000" b="1" dirty="0">
                <a:solidFill>
                  <a:srgbClr val="F8FAFC"/>
                </a:solidFill>
                <a:latin typeface="Montserrat" pitchFamily="34" charset="0"/>
                <a:ea typeface="Inter" pitchFamily="34" charset="-122"/>
                <a:cs typeface="Inter" pitchFamily="34" charset="-120"/>
              </a:rPr>
              <a:t>the leap isn't intelligence
</a:t>
            </a:r>
            <a:r>
              <a:rPr lang="en-US" sz="4000" b="1" dirty="0">
                <a:solidFill>
                  <a:srgbClr val="3B82F6"/>
                </a:solidFill>
                <a:latin typeface="Montserrat" pitchFamily="34" charset="0"/>
                <a:ea typeface="Inter" pitchFamily="34" charset="-122"/>
                <a:cs typeface="Inter" pitchFamily="34" charset="-120"/>
              </a:rPr>
              <a:t>it's orchestration</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05 · q&amp;a</a:t>
            </a:r>
            <a:endParaRPr lang="en-US" sz="800" dirty="0"/>
          </a:p>
        </p:txBody>
      </p:sp>
      <p:sp>
        <p:nvSpPr>
          <p:cNvPr id="3" name="Text 1"/>
          <p:cNvSpPr/>
          <p:nvPr/>
        </p:nvSpPr>
        <p:spPr>
          <a:xfrm>
            <a:off x="8233954"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20</a:t>
            </a:r>
            <a:endParaRPr lang="en-US" sz="800" dirty="0"/>
          </a:p>
        </p:txBody>
      </p:sp>
      <p:sp>
        <p:nvSpPr>
          <p:cNvPr id="4" name="Text 2"/>
          <p:cNvSpPr/>
          <p:nvPr/>
        </p:nvSpPr>
        <p:spPr>
          <a:xfrm>
            <a:off x="457200" y="1463040"/>
            <a:ext cx="8229600" cy="1463040"/>
          </a:xfrm>
          <a:prstGeom prst="rect">
            <a:avLst/>
          </a:prstGeom>
          <a:noFill/>
          <a:ln/>
        </p:spPr>
        <p:txBody>
          <a:bodyPr wrap="square" lIns="0" tIns="0" rIns="0" bIns="0" rtlCol="0" anchor="ctr"/>
          <a:lstStyle/>
          <a:p>
            <a:pPr marL="0" indent="0">
              <a:lnSpc>
                <a:spcPct val="105000"/>
              </a:lnSpc>
              <a:buNone/>
            </a:pPr>
            <a:r>
              <a:rPr lang="en-US" sz="4000" b="1" dirty="0">
                <a:solidFill>
                  <a:srgbClr val="F8FAFC"/>
                </a:solidFill>
                <a:latin typeface="Montserrat" pitchFamily="34" charset="0"/>
                <a:ea typeface="Inter" pitchFamily="34" charset="-122"/>
                <a:cs typeface="Inter" pitchFamily="34" charset="-120"/>
              </a:rPr>
              <a:t>thank you
</a:t>
            </a:r>
            <a:r>
              <a:rPr lang="en-US" sz="4000" b="1" dirty="0">
                <a:solidFill>
                  <a:srgbClr val="3B82F6"/>
                </a:solidFill>
                <a:latin typeface="Montserrat" pitchFamily="34" charset="0"/>
                <a:ea typeface="Inter" pitchFamily="34" charset="-122"/>
                <a:cs typeface="Inter" pitchFamily="34" charset="-120"/>
              </a:rPr>
              <a:t>merci</a:t>
            </a:r>
            <a:endParaRPr lang="en-US" sz="4000" dirty="0"/>
          </a:p>
        </p:txBody>
      </p:sp>
      <p:sp>
        <p:nvSpPr>
          <p:cNvPr id="5" name="Text 3"/>
          <p:cNvSpPr/>
          <p:nvPr/>
        </p:nvSpPr>
        <p:spPr>
          <a:xfrm>
            <a:off x="457200" y="3017520"/>
            <a:ext cx="8229600" cy="274320"/>
          </a:xfrm>
          <a:prstGeom prst="rect">
            <a:avLst/>
          </a:prstGeom>
          <a:noFill/>
          <a:ln/>
        </p:spPr>
        <p:txBody>
          <a:bodyPr wrap="square" lIns="0" tIns="0" rIns="0" bIns="0" rtlCol="0" anchor="ctr"/>
          <a:lstStyle/>
          <a:p>
            <a:pPr marL="0" indent="0">
              <a:buNone/>
            </a:pPr>
            <a:r>
              <a:rPr lang="en-US" sz="1300" dirty="0">
                <a:solidFill>
                  <a:srgbClr val="F8FAFC"/>
                </a:solidFill>
                <a:latin typeface="Inter" pitchFamily="34" charset="0"/>
                <a:ea typeface="Inter" pitchFamily="34" charset="-122"/>
                <a:cs typeface="Inter" pitchFamily="34" charset="-120"/>
              </a:rPr>
              <a:t>Faïçal Sawadogo · Manegre Inc.</a:t>
            </a:r>
            <a:endParaRPr lang="en-US" sz="1300" dirty="0"/>
          </a:p>
        </p:txBody>
      </p:sp>
      <p:sp>
        <p:nvSpPr>
          <p:cNvPr id="6" name="Text 4"/>
          <p:cNvSpPr/>
          <p:nvPr/>
        </p:nvSpPr>
        <p:spPr>
          <a:xfrm>
            <a:off x="457200" y="3310128"/>
            <a:ext cx="8229600" cy="274320"/>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linkedin · /in/faicalsawadogo      github · github.com/fsawadogo</a:t>
            </a:r>
            <a:endParaRPr lang="en-US" sz="1100" dirty="0"/>
          </a:p>
        </p:txBody>
      </p:sp>
      <p:sp>
        <p:nvSpPr>
          <p:cNvPr id="7" name="Text 5"/>
          <p:cNvSpPr/>
          <p:nvPr/>
        </p:nvSpPr>
        <p:spPr>
          <a:xfrm>
            <a:off x="457200" y="3657600"/>
            <a:ext cx="8229600" cy="274320"/>
          </a:xfrm>
          <a:prstGeom prst="rect">
            <a:avLst/>
          </a:prstGeom>
          <a:noFill/>
          <a:ln/>
        </p:spPr>
        <p:txBody>
          <a:bodyPr wrap="square" lIns="0" tIns="0" rIns="0" bIns="0" rtlCol="0" anchor="ctr"/>
          <a:lstStyle/>
          <a:p>
            <a:pPr marL="0" indent="0">
              <a:buNone/>
            </a:pPr>
            <a:r>
              <a:rPr lang="en-US" sz="1300" dirty="0">
                <a:solidFill>
                  <a:srgbClr val="F8FAFC"/>
                </a:solidFill>
                <a:latin typeface="Inter" pitchFamily="34" charset="0"/>
                <a:ea typeface="Inter" pitchFamily="34" charset="-122"/>
                <a:cs typeface="Inter" pitchFamily="34" charset="-120"/>
              </a:rPr>
              <a:t>Moussa Balla · Cloud Architect</a:t>
            </a:r>
            <a:endParaRPr lang="en-US" sz="1300" dirty="0"/>
          </a:p>
        </p:txBody>
      </p:sp>
      <p:sp>
        <p:nvSpPr>
          <p:cNvPr id="8" name="Text 6"/>
          <p:cNvSpPr/>
          <p:nvPr/>
        </p:nvSpPr>
        <p:spPr>
          <a:xfrm>
            <a:off x="457200" y="3950208"/>
            <a:ext cx="8229600" cy="274320"/>
          </a:xfrm>
          <a:prstGeom prst="rect">
            <a:avLst/>
          </a:prstGeom>
          <a:noFill/>
          <a:ln/>
        </p:spPr>
        <p:txBody>
          <a:bodyPr wrap="square" lIns="0" tIns="0" rIns="0" bIns="0" rtlCol="0" anchor="ctr"/>
          <a:lstStyle/>
          <a:p>
            <a:pPr marL="0" indent="0">
              <a:buNone/>
            </a:pPr>
            <a:r>
              <a:rPr lang="en-US" sz="1100" dirty="0">
                <a:solidFill>
                  <a:srgbClr val="94A3B8"/>
                </a:solidFill>
                <a:latin typeface="Inter" pitchFamily="34" charset="0"/>
                <a:ea typeface="Inter" pitchFamily="34" charset="-122"/>
                <a:cs typeface="Inter" pitchFamily="34" charset="-120"/>
              </a:rPr>
              <a:t>linkedin · /in/moussaballa      github · github.com/Moisebala</a:t>
            </a:r>
            <a:endParaRPr lang="en-US" sz="1100" dirty="0"/>
          </a:p>
        </p:txBody>
      </p:sp>
      <p:sp>
        <p:nvSpPr>
          <p:cNvPr id="9" name="Text 7"/>
          <p:cNvSpPr/>
          <p:nvPr/>
        </p:nvSpPr>
        <p:spPr>
          <a:xfrm>
            <a:off x="457200" y="4315968"/>
            <a:ext cx="8229600" cy="274320"/>
          </a:xfrm>
          <a:prstGeom prst="rect">
            <a:avLst/>
          </a:prstGeom>
          <a:noFill/>
          <a:ln/>
        </p:spPr>
        <p:txBody>
          <a:bodyPr wrap="square" lIns="0" tIns="0" rIns="0" bIns="0" rtlCol="0" anchor="ctr"/>
          <a:lstStyle/>
          <a:p>
            <a:pPr marL="0" indent="0">
              <a:buNone/>
            </a:pPr>
            <a:r>
              <a:rPr lang="en-US" sz="1100" dirty="0">
                <a:solidFill>
                  <a:srgbClr val="64748B"/>
                </a:solidFill>
                <a:latin typeface="Menlo" pitchFamily="34" charset="0"/>
                <a:ea typeface="Menlo" pitchFamily="34" charset="-122"/>
                <a:cs typeface="Menlo" pitchFamily="34" charset="-120"/>
              </a:rPr>
              <a:t>slides + Gatherly starter pack: github.com/Bmbsolution/genai-demo</a:t>
            </a:r>
            <a:endParaRPr lang="en-US" sz="1100" dirty="0"/>
          </a:p>
        </p:txBody>
      </p:sp>
      <p:pic>
        <p:nvPicPr>
          <p:cNvPr id="101" name="QR repo Gatherly"/>
          <p:cNvPicPr>
            <a:picLocks noChangeAspect="1"/>
          </p:cNvPicPr>
          <p:nvPr/>
        </p:nvPicPr>
        <p:blipFill>
          <a:blip r:embed="rId3"/>
          <a:stretch>
            <a:fillRect/>
          </a:stretch>
        </p:blipFill>
        <p:spPr>
          <a:xfrm>
            <a:off x="7406640" y="1554480"/>
            <a:ext cx="1280160" cy="128016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06 · backup</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21</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FBBF24"/>
                </a:solidFill>
                <a:latin typeface="Inter" pitchFamily="34" charset="0"/>
                <a:ea typeface="Inter" pitchFamily="34" charset="-122"/>
                <a:cs typeface="Inter" pitchFamily="34" charset="-120"/>
              </a:rPr>
              <a:t>BACKUP</a:t>
            </a:r>
            <a:endParaRPr lang="en-US" sz="1000" dirty="0"/>
          </a:p>
        </p:txBody>
      </p:sp>
      <p:sp>
        <p:nvSpPr>
          <p:cNvPr id="5" name="Text 3"/>
          <p:cNvSpPr/>
          <p:nvPr/>
        </p:nvSpPr>
        <p:spPr>
          <a:xfrm>
            <a:off x="457200" y="777240"/>
            <a:ext cx="8229600" cy="777240"/>
          </a:xfrm>
          <a:prstGeom prst="rect">
            <a:avLst/>
          </a:prstGeom>
          <a:noFill/>
          <a:ln/>
        </p:spPr>
        <p:txBody>
          <a:bodyPr wrap="square" lIns="0" tIns="0" rIns="0" bIns="0" rtlCol="0" anchor="ctr"/>
          <a:lstStyle/>
          <a:p>
            <a:pPr marL="0" indent="0">
              <a:buNone/>
            </a:pPr>
            <a:r>
              <a:rPr lang="en-US" sz="2400" b="1" i="1" dirty="0">
                <a:solidFill>
                  <a:srgbClr val="F8FAFC"/>
                </a:solidFill>
                <a:latin typeface="Montserrat" pitchFamily="34" charset="0"/>
                <a:ea typeface="Inter" pitchFamily="34" charset="-122"/>
                <a:cs typeface="Inter" pitchFamily="34" charset="-120"/>
              </a:rPr>
              <a:t>“will this replace developers?”</a:t>
            </a:r>
            <a:endParaRPr lang="en-US" sz="2400" dirty="0"/>
          </a:p>
        </p:txBody>
      </p:sp>
      <p:sp>
        <p:nvSpPr>
          <p:cNvPr id="6" name="Text 4"/>
          <p:cNvSpPr/>
          <p:nvPr/>
        </p:nvSpPr>
        <p:spPr>
          <a:xfrm>
            <a:off x="640080" y="1828800"/>
            <a:ext cx="7863840" cy="2011680"/>
          </a:xfrm>
          <a:prstGeom prst="rect">
            <a:avLst/>
          </a:prstGeom>
          <a:noFill/>
          <a:ln/>
        </p:spPr>
        <p:txBody>
          <a:bodyPr wrap="square" lIns="0" tIns="0" rIns="0" bIns="0" rtlCol="0" anchor="ctr"/>
          <a:lstStyle/>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the bottleneck moved from typing to judgment — judgment is still human</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every gate that matters ends at a person: escalations, merges, deploys</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the work shifts: less writing code, more writing rules and reviewing outcomes</a:t>
            </a:r>
            <a:endParaRPr lang="en-US" sz="1400" dirty="0"/>
          </a:p>
        </p:txBody>
      </p:sp>
      <p:sp>
        <p:nvSpPr>
          <p:cNvPr id="7" name="Text 5"/>
          <p:cNvSpPr/>
          <p:nvPr/>
        </p:nvSpPr>
        <p:spPr>
          <a:xfrm>
            <a:off x="640080" y="4069080"/>
            <a:ext cx="7863840" cy="365760"/>
          </a:xfrm>
          <a:prstGeom prst="rect">
            <a:avLst/>
          </a:prstGeom>
          <a:noFill/>
          <a:ln/>
        </p:spPr>
        <p:txBody>
          <a:bodyPr wrap="square" lIns="0" tIns="0" rIns="0" bIns="0" rtlCol="0" anchor="ctr"/>
          <a:lstStyle/>
          <a:p>
            <a:pPr marL="0" indent="0">
              <a:buNone/>
            </a:pPr>
            <a:r>
              <a:rPr lang="en-US" sz="1400" b="1" i="1" dirty="0">
                <a:solidFill>
                  <a:srgbClr val="3B82F6"/>
                </a:solidFill>
                <a:latin typeface="Inter" pitchFamily="34" charset="0"/>
                <a:ea typeface="Inter" pitchFamily="34" charset="-122"/>
                <a:cs typeface="Inter" pitchFamily="34" charset="-120"/>
              </a:rPr>
              <a:t>it replaces waiting, not people</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06 · backup</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22</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FBBF24"/>
                </a:solidFill>
                <a:latin typeface="Inter" pitchFamily="34" charset="0"/>
                <a:ea typeface="Inter" pitchFamily="34" charset="-122"/>
                <a:cs typeface="Inter" pitchFamily="34" charset="-120"/>
              </a:rPr>
              <a:t>BACKUP</a:t>
            </a:r>
            <a:endParaRPr lang="en-US" sz="1000" dirty="0"/>
          </a:p>
        </p:txBody>
      </p:sp>
      <p:sp>
        <p:nvSpPr>
          <p:cNvPr id="5" name="Text 3"/>
          <p:cNvSpPr/>
          <p:nvPr/>
        </p:nvSpPr>
        <p:spPr>
          <a:xfrm>
            <a:off x="457200" y="777240"/>
            <a:ext cx="8229600" cy="777240"/>
          </a:xfrm>
          <a:prstGeom prst="rect">
            <a:avLst/>
          </a:prstGeom>
          <a:noFill/>
          <a:ln/>
        </p:spPr>
        <p:txBody>
          <a:bodyPr wrap="square" lIns="0" tIns="0" rIns="0" bIns="0" rtlCol="0" anchor="ctr"/>
          <a:lstStyle/>
          <a:p>
            <a:pPr marL="0" indent="0">
              <a:buNone/>
            </a:pPr>
            <a:r>
              <a:rPr lang="en-US" sz="2400" b="1" i="1" dirty="0">
                <a:solidFill>
                  <a:srgbClr val="F8FAFC"/>
                </a:solidFill>
                <a:latin typeface="Montserrat" pitchFamily="34" charset="0"/>
                <a:ea typeface="Inter" pitchFamily="34" charset="-122"/>
                <a:cs typeface="Inter" pitchFamily="34" charset="-120"/>
              </a:rPr>
              <a:t>“what does it actually cost?”</a:t>
            </a:r>
            <a:endParaRPr lang="en-US" sz="2400" dirty="0"/>
          </a:p>
        </p:txBody>
      </p:sp>
      <p:sp>
        <p:nvSpPr>
          <p:cNvPr id="6" name="Text 4"/>
          <p:cNvSpPr/>
          <p:nvPr/>
        </p:nvSpPr>
        <p:spPr>
          <a:xfrm>
            <a:off x="640080" y="1828800"/>
            <a:ext cx="7863840" cy="2011680"/>
          </a:xfrm>
          <a:prstGeom prst="rect">
            <a:avLst/>
          </a:prstGeom>
          <a:noFill/>
          <a:ln/>
        </p:spPr>
        <p:txBody>
          <a:bodyPr wrap="square" lIns="0" tIns="0" rIns="0" bIns="0" rtlCol="0" anchor="ctr"/>
          <a:lstStyle/>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two cost models: always-on (pay for presence) vs on-demand (pay per task)</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skills are text files — dormant cost is near zero, loaded only when invoked</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bounded loops cap the worst case: 3 retries, then a cheap escalation</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measure per workflow: tokens per completed task vs minutes of human time saved</a:t>
            </a:r>
            <a:endParaRPr lang="en-US" sz="1400" dirty="0"/>
          </a:p>
        </p:txBody>
      </p:sp>
      <p:sp>
        <p:nvSpPr>
          <p:cNvPr id="7" name="Text 5"/>
          <p:cNvSpPr/>
          <p:nvPr/>
        </p:nvSpPr>
        <p:spPr>
          <a:xfrm>
            <a:off x="640080" y="4114800"/>
            <a:ext cx="7863840" cy="365760"/>
          </a:xfrm>
          <a:prstGeom prst="rect">
            <a:avLst/>
          </a:prstGeom>
          <a:noFill/>
          <a:ln/>
        </p:spPr>
        <p:txBody>
          <a:bodyPr wrap="square" lIns="0" tIns="0" rIns="0" bIns="0" rtlCol="0" anchor="ctr"/>
          <a:lstStyle/>
          <a:p>
            <a:pPr marL="0" indent="0">
              <a:buNone/>
            </a:pPr>
            <a:r>
              <a:rPr lang="en-US" sz="1400" b="1" i="1" dirty="0">
                <a:solidFill>
                  <a:srgbClr val="3B82F6"/>
                </a:solidFill>
                <a:latin typeface="Inter" pitchFamily="34" charset="0"/>
                <a:ea typeface="Inter" pitchFamily="34" charset="-122"/>
                <a:cs typeface="Inter" pitchFamily="34" charset="-120"/>
              </a:rPr>
              <a:t>the unit of cost is the task, not the agent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06 · backup</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23</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FBBF24"/>
                </a:solidFill>
                <a:latin typeface="Inter" pitchFamily="34" charset="0"/>
                <a:ea typeface="Inter" pitchFamily="34" charset="-122"/>
                <a:cs typeface="Inter" pitchFamily="34" charset="-120"/>
              </a:rPr>
              <a:t>BACKUP</a:t>
            </a:r>
            <a:endParaRPr lang="en-US" sz="1000" dirty="0"/>
          </a:p>
        </p:txBody>
      </p:sp>
      <p:sp>
        <p:nvSpPr>
          <p:cNvPr id="5" name="Text 3"/>
          <p:cNvSpPr/>
          <p:nvPr/>
        </p:nvSpPr>
        <p:spPr>
          <a:xfrm>
            <a:off x="457200" y="777240"/>
            <a:ext cx="8229600" cy="777240"/>
          </a:xfrm>
          <a:prstGeom prst="rect">
            <a:avLst/>
          </a:prstGeom>
          <a:noFill/>
          <a:ln/>
        </p:spPr>
        <p:txBody>
          <a:bodyPr wrap="square" lIns="0" tIns="0" rIns="0" bIns="0" rtlCol="0" anchor="ctr"/>
          <a:lstStyle/>
          <a:p>
            <a:pPr marL="0" indent="0">
              <a:buNone/>
            </a:pPr>
            <a:r>
              <a:rPr lang="en-US" sz="2400" b="1" i="1" dirty="0">
                <a:solidFill>
                  <a:srgbClr val="F8FAFC"/>
                </a:solidFill>
                <a:latin typeface="Montserrat" pitchFamily="34" charset="0"/>
                <a:ea typeface="Inter" pitchFamily="34" charset="-122"/>
                <a:cs typeface="Inter" pitchFamily="34" charset="-120"/>
              </a:rPr>
              <a:t>“is our code and data safe?”</a:t>
            </a:r>
            <a:endParaRPr lang="en-US" sz="2400" dirty="0"/>
          </a:p>
        </p:txBody>
      </p:sp>
      <p:sp>
        <p:nvSpPr>
          <p:cNvPr id="6" name="Text 4"/>
          <p:cNvSpPr/>
          <p:nvPr/>
        </p:nvSpPr>
        <p:spPr>
          <a:xfrm>
            <a:off x="640080" y="1828800"/>
            <a:ext cx="7863840" cy="2011680"/>
          </a:xfrm>
          <a:prstGeom prst="rect">
            <a:avLst/>
          </a:prstGeom>
          <a:noFill/>
          <a:ln/>
        </p:spPr>
        <p:txBody>
          <a:bodyPr wrap="square" lIns="0" tIns="0" rIns="0" bIns="0" rtlCol="0" anchor="ctr"/>
          <a:lstStyle/>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skills declare allowed tools — an audit skill can read your guest list, never change it</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agents run with scoped permissions, in isolated contexts</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the audit gate blocks commits that violate written security rules</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humans remain the gate for merge and deploy — nothing reaches prod alone</a:t>
            </a:r>
            <a:endParaRPr lang="en-US" sz="1400" dirty="0"/>
          </a:p>
        </p:txBody>
      </p:sp>
      <p:sp>
        <p:nvSpPr>
          <p:cNvPr id="7" name="Text 5"/>
          <p:cNvSpPr/>
          <p:nvPr/>
        </p:nvSpPr>
        <p:spPr>
          <a:xfrm>
            <a:off x="640080" y="4069080"/>
            <a:ext cx="7863840" cy="365760"/>
          </a:xfrm>
          <a:prstGeom prst="rect">
            <a:avLst/>
          </a:prstGeom>
          <a:noFill/>
          <a:ln/>
        </p:spPr>
        <p:txBody>
          <a:bodyPr wrap="square" lIns="0" tIns="0" rIns="0" bIns="0" rtlCol="0" anchor="ctr"/>
          <a:lstStyle/>
          <a:p>
            <a:pPr marL="0" indent="0">
              <a:buNone/>
            </a:pPr>
            <a:r>
              <a:rPr lang="en-US" sz="1400" b="1" i="1" dirty="0">
                <a:solidFill>
                  <a:srgbClr val="3B82F6"/>
                </a:solidFill>
                <a:latin typeface="Inter" pitchFamily="34" charset="0"/>
                <a:ea typeface="Inter" pitchFamily="34" charset="-122"/>
                <a:cs typeface="Inter" pitchFamily="34" charset="-120"/>
              </a:rPr>
              <a:t>safety is designed in the contract, not hoped for in the prompt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0F1729"/>
        </a:solidFill>
        <a:effectLst/>
      </p:bgPr>
    </p:bg>
    <p:spTree>
      <p:nvGrpSpPr>
        <p:cNvPr id="1" name=""/>
        <p:cNvGrpSpPr/>
        <p:nvPr/>
      </p:nvGrpSpPr>
      <p:grpSpPr>
        <a:xfrm>
          <a:off x="0" y="0"/>
          <a:ext cx="0" cy="0"/>
          <a:chOff x="0" y="0"/>
          <a:chExt cx="0" cy="0"/>
        </a:xfrm>
      </p:grpSpPr>
      <p:sp>
        <p:nvSpPr>
          <p:cNvPr id="2" name="Text 0"/>
          <p:cNvSpPr/>
          <p:nvPr/>
        </p:nvSpPr>
        <p:spPr>
          <a:xfrm>
            <a:off x="457200" y="4796028"/>
            <a:ext cx="4572000" cy="274320"/>
          </a:xfrm>
          <a:prstGeom prst="rect">
            <a:avLst/>
          </a:prstGeom>
          <a:noFill/>
          <a:ln/>
        </p:spPr>
        <p:txBody>
          <a:bodyPr wrap="square" lIns="0" tIns="0" rIns="0" bIns="0" rtlCol="0" anchor="ctr"/>
          <a:lstStyle/>
          <a:p>
            <a:pPr marL="0" indent="0">
              <a:buNone/>
            </a:pPr>
            <a:r>
              <a:rPr lang="en-US" sz="800" kern="0" spc="200" dirty="0">
                <a:solidFill>
                  <a:srgbClr val="64748B"/>
                </a:solidFill>
                <a:latin typeface="Inter" pitchFamily="34" charset="0"/>
                <a:ea typeface="Inter" pitchFamily="34" charset="-122"/>
                <a:cs typeface="Inter" pitchFamily="34" charset="-120"/>
              </a:rPr>
              <a:t>06 · backup</a:t>
            </a:r>
            <a:endParaRPr lang="en-US" sz="800" dirty="0"/>
          </a:p>
        </p:txBody>
      </p:sp>
      <p:sp>
        <p:nvSpPr>
          <p:cNvPr id="3" name="Text 1"/>
          <p:cNvSpPr/>
          <p:nvPr/>
        </p:nvSpPr>
        <p:spPr>
          <a:xfrm>
            <a:off x="8229600" y="4796028"/>
            <a:ext cx="457200" cy="274320"/>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24</a:t>
            </a:r>
            <a:endParaRPr lang="en-US" sz="800" dirty="0"/>
          </a:p>
        </p:txBody>
      </p:sp>
      <p:sp>
        <p:nvSpPr>
          <p:cNvPr id="4" name="Text 2"/>
          <p:cNvSpPr/>
          <p:nvPr/>
        </p:nvSpPr>
        <p:spPr>
          <a:xfrm>
            <a:off x="457200" y="384048"/>
            <a:ext cx="8229600" cy="274320"/>
          </a:xfrm>
          <a:prstGeom prst="rect">
            <a:avLst/>
          </a:prstGeom>
          <a:noFill/>
          <a:ln/>
        </p:spPr>
        <p:txBody>
          <a:bodyPr wrap="square" lIns="0" tIns="0" rIns="0" bIns="0" rtlCol="0" anchor="ctr"/>
          <a:lstStyle/>
          <a:p>
            <a:pPr marL="0" indent="0">
              <a:buNone/>
            </a:pPr>
            <a:r>
              <a:rPr lang="en-US" sz="1000" b="1" kern="0" spc="300" dirty="0">
                <a:solidFill>
                  <a:srgbClr val="FBBF24"/>
                </a:solidFill>
                <a:latin typeface="Inter" pitchFamily="34" charset="0"/>
                <a:ea typeface="Inter" pitchFamily="34" charset="-122"/>
                <a:cs typeface="Inter" pitchFamily="34" charset="-120"/>
              </a:rPr>
              <a:t>BACKUP</a:t>
            </a:r>
            <a:endParaRPr lang="en-US" sz="1000" dirty="0"/>
          </a:p>
        </p:txBody>
      </p:sp>
      <p:sp>
        <p:nvSpPr>
          <p:cNvPr id="5" name="Text 3"/>
          <p:cNvSpPr/>
          <p:nvPr/>
        </p:nvSpPr>
        <p:spPr>
          <a:xfrm>
            <a:off x="457200" y="777240"/>
            <a:ext cx="8229600" cy="777240"/>
          </a:xfrm>
          <a:prstGeom prst="rect">
            <a:avLst/>
          </a:prstGeom>
          <a:noFill/>
          <a:ln/>
        </p:spPr>
        <p:txBody>
          <a:bodyPr wrap="square" lIns="0" tIns="0" rIns="0" bIns="0" rtlCol="0" anchor="ctr"/>
          <a:lstStyle/>
          <a:p>
            <a:pPr marL="0" indent="0">
              <a:buNone/>
            </a:pPr>
            <a:r>
              <a:rPr lang="en-US" sz="2400" b="1" i="1" dirty="0">
                <a:solidFill>
                  <a:srgbClr val="F8FAFC"/>
                </a:solidFill>
                <a:latin typeface="Montserrat" pitchFamily="34" charset="0"/>
                <a:ea typeface="Inter" pitchFamily="34" charset="-122"/>
                <a:cs typeface="Inter" pitchFamily="34" charset="-120"/>
              </a:rPr>
              <a:t>“what about hallucinations?”</a:t>
            </a:r>
            <a:endParaRPr lang="en-US" sz="2400" dirty="0"/>
          </a:p>
        </p:txBody>
      </p:sp>
      <p:sp>
        <p:nvSpPr>
          <p:cNvPr id="6" name="Text 4"/>
          <p:cNvSpPr/>
          <p:nvPr/>
        </p:nvSpPr>
        <p:spPr>
          <a:xfrm>
            <a:off x="640080" y="1828800"/>
            <a:ext cx="7863840" cy="2011680"/>
          </a:xfrm>
          <a:prstGeom prst="rect">
            <a:avLst/>
          </a:prstGeom>
          <a:noFill/>
          <a:ln/>
        </p:spPr>
        <p:txBody>
          <a:bodyPr wrap="square" lIns="0" tIns="0" rIns="0" bIns="0" rtlCol="0" anchor="ctr"/>
          <a:lstStyle/>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we don't trust output — we verify it: tests, audits, builds are the truth</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acceptance criteria are machine-checkable, so a wrong answer fails a gate</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the inner loop retries with the error in hand — 3 strikes, then a human</a:t>
            </a:r>
            <a:endParaRPr lang="en-US" sz="1400" dirty="0"/>
          </a:p>
          <a:p>
            <a:pPr marL="152400" indent="-152400">
              <a:spcAft>
                <a:spcPts val="1100"/>
              </a:spcAft>
              <a:buSzPct val="100000"/>
              <a:buChar char="•"/>
            </a:pPr>
            <a:r>
              <a:rPr lang="en-US" sz="1400" dirty="0">
                <a:solidFill>
                  <a:srgbClr val="F8FAFC"/>
                </a:solidFill>
                <a:latin typeface="Inter" pitchFamily="34" charset="0"/>
                <a:ea typeface="Inter" pitchFamily="34" charset="-122"/>
                <a:cs typeface="Inter" pitchFamily="34" charset="-120"/>
              </a:rPr>
              <a:t>an hallucination that can't pass a gate can't ship</a:t>
            </a:r>
            <a:endParaRPr lang="en-US" sz="1400" dirty="0"/>
          </a:p>
        </p:txBody>
      </p:sp>
      <p:sp>
        <p:nvSpPr>
          <p:cNvPr id="7" name="Text 5"/>
          <p:cNvSpPr/>
          <p:nvPr/>
        </p:nvSpPr>
        <p:spPr>
          <a:xfrm>
            <a:off x="640080" y="4069080"/>
            <a:ext cx="7863840" cy="365760"/>
          </a:xfrm>
          <a:prstGeom prst="rect">
            <a:avLst/>
          </a:prstGeom>
          <a:noFill/>
          <a:ln/>
        </p:spPr>
        <p:txBody>
          <a:bodyPr wrap="square" lIns="0" tIns="0" rIns="0" bIns="0" rtlCol="0" anchor="ctr"/>
          <a:lstStyle/>
          <a:p>
            <a:pPr marL="0" indent="0">
              <a:buNone/>
            </a:pPr>
            <a:r>
              <a:rPr lang="en-US" sz="1400" b="1" i="1" dirty="0">
                <a:solidFill>
                  <a:srgbClr val="3B82F6"/>
                </a:solidFill>
                <a:latin typeface="Inter" pitchFamily="34" charset="0"/>
                <a:ea typeface="Inter" pitchFamily="34" charset="-122"/>
                <a:cs typeface="Inter" pitchFamily="34" charset="-120"/>
              </a:rPr>
              <a:t>the system is designed for a fallible worker — human or AI</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3B82F6"/>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ontserra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af3cd2ba-39fc-428b-a333-80f7eb18b18d}" enabled="1" method="Standard" siteId="{e8b88f3d-222b-4ce5-b9d1-46b0ff9466a0}" contentBits="0" removed="0"/>
</clbl:labelList>
</file>

<file path=docProps/app.xml><?xml version="1.0" encoding="utf-8"?>
<Properties xmlns="http://schemas.openxmlformats.org/officeDocument/2006/extended-properties" xmlns:vt="http://schemas.openxmlformats.org/officeDocument/2006/docPropsVTypes">
  <TotalTime>34</TotalTime>
  <Words>3254</Words>
  <Application>Microsoft Macintosh PowerPoint</Application>
  <PresentationFormat>On-screen Show (16:9)</PresentationFormat>
  <Paragraphs>348</Paragraphs>
  <Slides>24</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Inter</vt:lpstr>
      <vt:lpstr>Menlo</vt:lpstr>
      <vt:lpstr>Montserrat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Orchestrer l'intelligence</dc:title>
  <dc:subject>PptxGenJS Presentation</dc:subject>
  <dc:creator>Faïçal Sawadogo · Moussa Balla</dc:creator>
  <cp:lastModifiedBy>Moussa Boubacar BALLA</cp:lastModifiedBy>
  <cp:revision>6</cp:revision>
  <dcterms:created xsi:type="dcterms:W3CDTF">2026-06-11T13:39:28Z</dcterms:created>
  <dcterms:modified xsi:type="dcterms:W3CDTF">2026-06-17T16:35:51Z</dcterms:modified>
</cp:coreProperties>
</file>